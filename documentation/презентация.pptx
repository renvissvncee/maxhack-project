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5240000" cy="85725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787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Концепция: локальная сеть hospitality exchange внутри MAX. Обложка сгенерирована с помощью Imagegen и не является документальной фотографией.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 содержания: бриф команды, предоставленный пользователем. Концепция продукта и план пилота, если не указано иное.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Данные предоставлены командой, первичные интервью не приложены. 13 впервые узнали, 6 слышали, 0 пользовались. 13+6=19: статус осведомлённости одного участника не указан. Показатель использования отдельный, не третья взаимоисключающая группа.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 содержания: бриф команды, предоставленный пользователем. Концепция продукта и план пилота, если не указано иное.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 содержания: бриф команды, предоставленный пользователем. Концепция продукта и план пилота, если не указано иное.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 содержания: бриф команды, предоставленный пользователем. Концепция продукта и план пилота, если не указано иное.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 содержания: бриф команды, предоставленный пользователем. Концепция продукта и план пилота, если не указано иное.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Архитектура по брифу. Расположение Nginx и связи backend с worker показаны как концептуальная схема. Реальный код MVP не предоставлен, реализация связей не проверялась.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 содержания: бриф команды, предоставленный пользователем. Концепция продукта и план пилота, если не указано иное.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План пилота по брифу команды. Географическая основа: Natural Earth, public domain, https://github.com/nvkelso/natural-earth-vector/blob/master/geojson/ne_110m_admin_0_countries.geojson. Обзорная карта и метки, не навигационная карта.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 содержания: бриф команды, предоставленный пользователем. Концепция продукта и план пилота, если не указано иное.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 содержания: бриф команды, предоставленный пользователем. Концепция продукта и план пилота, если не указано иное.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 содержания: бриф команды, предоставленный пользователем. Концепция продукта и план пилота, если не указано иное.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7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81F10F3-0060-4E98-BA04-BE6EE8BE57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9" y="0"/>
            <a:ext cx="15231902" cy="8572500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788BEA3B-9910-4EAC-B3F1-53D6735621C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0287000" cy="8572500"/>
          </a:xfrm>
          <a:prstGeom prst="rect">
            <a:avLst/>
          </a:prstGeom>
          <a:gradFill>
            <a:gsLst>
              <a:gs pos="0">
                <a:srgbClr val="06071C"/>
              </a:gs>
              <a:gs pos="48000">
                <a:srgbClr val="06071C">
                  <a:alpha val="90000"/>
                </a:srgbClr>
              </a:gs>
              <a:gs pos="100000">
                <a:srgbClr val="06071C">
                  <a:alpha val="0"/>
                </a:srgbClr>
              </a:gs>
            </a:gsLst>
            <a:lin ang="0"/>
          </a:gradFill>
          <a:ln w="0">
            <a:noFill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5A60083-DDE3-4A26-894B-6F05D84A4F03}"/>
              </a:ext>
            </a:extLst>
          </p:cNvPr>
          <p:cNvSpPr>
            <a:spLocks noGrp="1"/>
          </p:cNvSpPr>
          <p:nvPr/>
        </p:nvSpPr>
        <p:spPr>
          <a:xfrm>
            <a:off x="704850" y="619125"/>
            <a:ext cx="57150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725" b="1">
                <a:solidFill>
                  <a:srgbClr val="BE91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BE91D9"/>
                </a:solidFill>
                <a:latin typeface="Helvetica Neue"/>
                <a:ea typeface="Helvetica Neue"/>
                <a:cs typeface="Helvetica Neue"/>
              </a:rPr>
              <a:t>ХАКАТОН MAX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7700550-106A-4F83-BEB1-A3E4A941CCE9}"/>
              </a:ext>
            </a:extLst>
          </p:cNvPr>
          <p:cNvSpPr>
            <a:spLocks noGrp="1"/>
          </p:cNvSpPr>
          <p:nvPr/>
        </p:nvSpPr>
        <p:spPr>
          <a:xfrm>
            <a:off x="685800" y="1227221"/>
            <a:ext cx="6934200" cy="3678154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62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ru-RU" sz="6225" b="1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Обмен гостеприимством</a:t>
            </a:r>
            <a:endParaRPr sz="6225" b="1" dirty="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  <a:p>
            <a:pPr algn="l">
              <a:defRPr sz="62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6225" b="1" dirty="0" err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внутри</a:t>
            </a:r>
            <a:r>
              <a:rPr sz="6225" b="1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MAX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E7401AF4-CF8E-4AC4-BC76-6CF5E5F1D77F}"/>
              </a:ext>
            </a:extLst>
          </p:cNvPr>
          <p:cNvSpPr>
            <a:spLocks noGrp="1"/>
          </p:cNvSpPr>
          <p:nvPr/>
        </p:nvSpPr>
        <p:spPr>
          <a:xfrm>
            <a:off x="704850" y="5248275"/>
            <a:ext cx="1047750" cy="47625"/>
          </a:xfrm>
          <a:prstGeom prst="rect">
            <a:avLst/>
          </a:prstGeom>
          <a:gradFill>
            <a:gsLst>
              <a:gs pos="0">
                <a:srgbClr val="374AF3"/>
              </a:gs>
              <a:gs pos="48000">
                <a:srgbClr val="554DDE"/>
              </a:gs>
              <a:gs pos="100000">
                <a:srgbClr val="62047B"/>
              </a:gs>
            </a:gsLst>
            <a:lin ang="1500000"/>
          </a:gradFill>
          <a:ln w="0">
            <a:noFill/>
          </a:ln>
        </p:spPr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FFB0E32-67A1-4E41-8E4C-58657B710153}"/>
              </a:ext>
            </a:extLst>
          </p:cNvPr>
          <p:cNvSpPr>
            <a:spLocks noGrp="1"/>
          </p:cNvSpPr>
          <p:nvPr/>
        </p:nvSpPr>
        <p:spPr>
          <a:xfrm>
            <a:off x="704851" y="5657851"/>
            <a:ext cx="5010150" cy="2628904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6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0" dirty="0" err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Создаём</a:t>
            </a:r>
            <a:r>
              <a:rPr sz="2625" b="0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2625" b="0" dirty="0" err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локальную</a:t>
            </a:r>
            <a:r>
              <a:rPr sz="2625" b="0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2625" b="0" dirty="0" err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сеть</a:t>
            </a:r>
            <a:endParaRPr sz="2625" b="0" dirty="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  <a:p>
            <a:pPr algn="l">
              <a:defRPr sz="26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0" dirty="0" err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гостеприимства</a:t>
            </a:r>
            <a:r>
              <a:rPr sz="2625" b="0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2625" b="0" dirty="0" err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для</a:t>
            </a:r>
            <a:r>
              <a:rPr sz="2625" b="0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2625" b="0" dirty="0" err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внутренних</a:t>
            </a:r>
            <a:endParaRPr sz="2625" b="0" dirty="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  <a:p>
            <a:pPr algn="l">
              <a:defRPr sz="26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0" dirty="0" err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поездок</a:t>
            </a:r>
            <a:r>
              <a:rPr sz="2625" b="0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2625" b="0" dirty="0" err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по</a:t>
            </a:r>
            <a:r>
              <a:rPr sz="2625" b="0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2625" b="0" dirty="0" err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России</a:t>
            </a:r>
            <a:br>
              <a:rPr lang="en-US" sz="2625" b="0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</a:br>
            <a:br>
              <a:rPr lang="ru-RU" sz="2625" b="0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</a:br>
            <a:r>
              <a:rPr lang="ru-RU" sz="2625" b="0" dirty="0">
                <a:solidFill>
                  <a:schemeClr val="bg1">
                    <a:lumMod val="50000"/>
                  </a:schemeClr>
                </a:solidFill>
                <a:latin typeface="Helvetica Neue"/>
                <a:ea typeface="Helvetica Neue"/>
                <a:cs typeface="Helvetica Neue"/>
              </a:rPr>
              <a:t>Репозиторий </a:t>
            </a:r>
            <a:r>
              <a:rPr lang="en-US" sz="2625" b="0" dirty="0">
                <a:solidFill>
                  <a:schemeClr val="bg1">
                    <a:lumMod val="50000"/>
                  </a:schemeClr>
                </a:solidFill>
                <a:latin typeface="Helvetica Neue"/>
                <a:ea typeface="Helvetica Neue"/>
                <a:cs typeface="Helvetica Neue"/>
              </a:rPr>
              <a:t>Git: https://github.com/renvissvncee/MAXHACK-project</a:t>
            </a:r>
            <a:endParaRPr sz="2625" b="0" dirty="0">
              <a:solidFill>
                <a:schemeClr val="bg1">
                  <a:lumMod val="50000"/>
                </a:schemeClr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7494639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6071C"/>
            </a:gs>
            <a:gs pos="58000">
              <a:srgbClr val="090B27"/>
            </a:gs>
            <a:gs pos="100000">
              <a:srgbClr val="14104F"/>
            </a:gs>
          </a:gsLst>
          <a:lin ang="15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50E605A4-A0B9-46A6-9650-CACB2577A261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23825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350" b="1">
                <a:solidFill>
                  <a:srgbClr val="BE91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BE91D9"/>
                </a:solidFill>
                <a:latin typeface="Helvetica Neue"/>
                <a:ea typeface="Helvetica Neue"/>
                <a:cs typeface="Helvetica Neue"/>
              </a:rPr>
              <a:t>ВОЗМОЖНОСТЬ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9C570B0-E011-4115-BC32-E0221D9D8A25}"/>
              </a:ext>
            </a:extLst>
          </p:cNvPr>
          <p:cNvSpPr>
            <a:spLocks noGrp="1"/>
          </p:cNvSpPr>
          <p:nvPr/>
        </p:nvSpPr>
        <p:spPr>
          <a:xfrm>
            <a:off x="685800" y="904875"/>
            <a:ext cx="13868400" cy="1428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Миллионы путешествуют по России.</a:t>
            </a:r>
          </a:p>
          <a:p>
            <a:pPr algn="l"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Но о другом способе знают немногие</a:t>
            </a:r>
          </a:p>
        </p:txBody>
      </p:sp>
      <p:sp>
        <p:nv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92DEFF1B-A76E-43BA-AF74-7B6B7DEF3366}"/>
              </a:ext>
            </a:extLst>
          </p:cNvPr>
          <p:cNvSpPr>
            <a:spLocks noGrp="1"/>
          </p:cNvSpPr>
          <p:nvPr/>
        </p:nvSpPr>
        <p:spPr>
          <a:xfrm>
            <a:off x="685800" y="8001000"/>
            <a:ext cx="13868400" cy="0"/>
          </a:xfrm>
          <a:prstGeom prst="line">
            <a:avLst/>
          </a:prstGeom>
          <a:noFill/>
          <a:ln w="9525">
            <a:solidFill>
              <a:srgbClr val="FFFFFF">
                <a:alpha val="12000"/>
              </a:srgbClr>
            </a:solidFill>
          </a:ln>
        </p:spPr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56695E5-F119-44D0-9024-42A7CF955528}"/>
              </a:ext>
            </a:extLst>
          </p:cNvPr>
          <p:cNvSpPr>
            <a:spLocks noGrp="1"/>
          </p:cNvSpPr>
          <p:nvPr/>
        </p:nvSpPr>
        <p:spPr>
          <a:xfrm>
            <a:off x="685800" y="8153400"/>
            <a:ext cx="80962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125" b="0">
                <a:solidFill>
                  <a:srgbClr val="B2B5D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B2B5D5"/>
                </a:solidFill>
                <a:latin typeface="Helvetica Neue"/>
                <a:ea typeface="Helvetica Neue"/>
                <a:cs typeface="Helvetica Neue"/>
              </a:rPr>
              <a:t>HOSPITALITY EXCHANGE / MAX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59FBE693-5DC4-4CE3-9B7A-7CA21CE57164}"/>
              </a:ext>
            </a:extLst>
          </p:cNvPr>
          <p:cNvSpPr>
            <a:spLocks noGrp="1"/>
          </p:cNvSpPr>
          <p:nvPr/>
        </p:nvSpPr>
        <p:spPr>
          <a:xfrm>
            <a:off x="13887450" y="8115300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500" b="0">
                <a:solidFill>
                  <a:srgbClr val="B2B5D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B2B5D5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A3044104-5D5C-41A8-A104-5150DC3818CB}"/>
              </a:ext>
            </a:extLst>
          </p:cNvPr>
          <p:cNvSpPr>
            <a:spLocks noGrp="1"/>
          </p:cNvSpPr>
          <p:nvPr/>
        </p:nvSpPr>
        <p:spPr>
          <a:xfrm>
            <a:off x="685800" y="2619375"/>
            <a:ext cx="60007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00" b="1">
                <a:solidFill>
                  <a:srgbClr val="B2B5D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B2B5D5"/>
                </a:solidFill>
                <a:latin typeface="Helvetica Neue"/>
                <a:ea typeface="Helvetica Neue"/>
                <a:cs typeface="Helvetica Neue"/>
              </a:rPr>
              <a:t>Привычный сценарий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C66ADFD-D6E1-4F67-B13A-BF895E098BFB}"/>
              </a:ext>
            </a:extLst>
          </p:cNvPr>
          <p:cNvSpPr>
            <a:spLocks noGrp="1"/>
          </p:cNvSpPr>
          <p:nvPr/>
        </p:nvSpPr>
        <p:spPr>
          <a:xfrm>
            <a:off x="8029575" y="2619375"/>
            <a:ext cx="62865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00" b="1">
                <a:solidFill>
                  <a:srgbClr val="BE91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BE91D9"/>
                </a:solidFill>
                <a:latin typeface="Helvetica Neue"/>
                <a:ea typeface="Helvetica Neue"/>
                <a:cs typeface="Helvetica Neue"/>
              </a:rPr>
              <a:t>Альтернативный сценарий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9218324F-4630-4067-A350-F872C0957120}"/>
              </a:ext>
            </a:extLst>
          </p:cNvPr>
          <p:cNvSpPr>
            <a:spLocks noGrp="1"/>
          </p:cNvSpPr>
          <p:nvPr/>
        </p:nvSpPr>
        <p:spPr>
          <a:xfrm>
            <a:off x="685800" y="3333750"/>
            <a:ext cx="5238750" cy="723900"/>
          </a:xfrm>
          <a:prstGeom prst="roundRect">
            <a:avLst>
              <a:gd name="adj" fmla="val 31579"/>
            </a:avLst>
          </a:prstGeom>
          <a:gradFill>
            <a:gsLst>
              <a:gs pos="0">
                <a:srgbClr val="25255A">
                  <a:alpha val="80000"/>
                </a:srgbClr>
              </a:gs>
              <a:gs pos="100000">
                <a:srgbClr val="14102F">
                  <a:alpha val="75000"/>
                </a:srgbClr>
              </a:gs>
            </a:gsLst>
            <a:lin ang="7800000"/>
          </a:gradFill>
          <a:ln w="9525">
            <a:solidFill>
              <a:srgbClr val="B7B5F0">
                <a:alpha val="20000"/>
              </a:srgbClr>
            </a:solidFill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8F96910B-C852-469E-BFE4-0087753034F2}"/>
              </a:ext>
            </a:extLst>
          </p:cNvPr>
          <p:cNvSpPr>
            <a:spLocks noGrp="1"/>
          </p:cNvSpPr>
          <p:nvPr/>
        </p:nvSpPr>
        <p:spPr>
          <a:xfrm>
            <a:off x="876300" y="3514725"/>
            <a:ext cx="48577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Путешествие</a:t>
            </a: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9BB1AEF1-846E-4E0F-ABE8-2C9AC2009A49}"/>
              </a:ext>
            </a:extLst>
          </p:cNvPr>
          <p:cNvSpPr>
            <a:spLocks noGrp="1"/>
          </p:cNvSpPr>
          <p:nvPr/>
        </p:nvSpPr>
        <p:spPr>
          <a:xfrm>
            <a:off x="685800" y="4667250"/>
            <a:ext cx="5238750" cy="904875"/>
          </a:xfrm>
          <a:prstGeom prst="roundRect">
            <a:avLst>
              <a:gd name="adj" fmla="val 25263"/>
            </a:avLst>
          </a:prstGeom>
          <a:gradFill>
            <a:gsLst>
              <a:gs pos="0">
                <a:srgbClr val="25255A">
                  <a:alpha val="80000"/>
                </a:srgbClr>
              </a:gs>
              <a:gs pos="100000">
                <a:srgbClr val="14102F">
                  <a:alpha val="75000"/>
                </a:srgbClr>
              </a:gs>
            </a:gsLst>
            <a:lin ang="7800000"/>
          </a:gradFill>
          <a:ln w="9525">
            <a:solidFill>
              <a:srgbClr val="B7B5F0">
                <a:alpha val="20000"/>
              </a:srgbClr>
            </a:solidFill>
          </a:ln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549663C-A80A-4FDB-A87E-E5CFD307451D}"/>
              </a:ext>
            </a:extLst>
          </p:cNvPr>
          <p:cNvSpPr>
            <a:spLocks noGrp="1"/>
          </p:cNvSpPr>
          <p:nvPr/>
        </p:nvSpPr>
        <p:spPr>
          <a:xfrm>
            <a:off x="876300" y="4848225"/>
            <a:ext cx="485775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Отель / Хостел / Аренда жилья</a:t>
            </a:r>
          </a:p>
        </p:txBody>
      </p:sp>
      <p:cxnSp>
        <p:nvCxnSpPr>
          <p:cNvPr id="34" name="Прямая со стрелкой 33"/>
          <p:cNvCxnSpPr>
            <a:stCxn id="8" idx="2"/>
            <a:endCxn id="10" idx="0"/>
          </p:cNvCxnSpPr>
          <p:nvPr/>
        </p:nvCxnSpPr>
        <p:spPr>
          <a:xfrm>
            <a:off x="3305175" y="4057650"/>
            <a:ext cx="0" cy="609600"/>
          </a:xfrm>
          <a:prstGeom prst="straightConnector1">
            <a:avLst/>
          </a:prstGeom>
          <a:ln w="19050">
            <a:solidFill>
              <a:srgbClr val="65698A"/>
            </a:solidFill>
            <a:tailEnd type="triangle" w="sm" len="sm"/>
          </a:ln>
        </p:spPr>
      </p:cxn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CE14B5EF-1701-402D-BD7C-5649FA3707EF}"/>
              </a:ext>
            </a:extLst>
          </p:cNvPr>
          <p:cNvSpPr>
            <a:spLocks noGrp="1"/>
          </p:cNvSpPr>
          <p:nvPr/>
        </p:nvSpPr>
        <p:spPr>
          <a:xfrm>
            <a:off x="8029575" y="3333750"/>
            <a:ext cx="6524625" cy="723900"/>
          </a:xfrm>
          <a:prstGeom prst="roundRect">
            <a:avLst>
              <a:gd name="adj" fmla="val 31579"/>
            </a:avLst>
          </a:prstGeom>
          <a:gradFill>
            <a:gsLst>
              <a:gs pos="0">
                <a:srgbClr val="25255A">
                  <a:alpha val="80000"/>
                </a:srgbClr>
              </a:gs>
              <a:gs pos="100000">
                <a:srgbClr val="14102F">
                  <a:alpha val="75000"/>
                </a:srgbClr>
              </a:gs>
            </a:gsLst>
            <a:lin ang="7800000"/>
          </a:gradFill>
          <a:ln w="9525">
            <a:solidFill>
              <a:srgbClr val="B7B5F0">
                <a:alpha val="20000"/>
              </a:srgbClr>
            </a:solidFill>
          </a:ln>
        </p:spPr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B40E2B8E-68DB-4B12-A54A-A07AF06CA627}"/>
              </a:ext>
            </a:extLst>
          </p:cNvPr>
          <p:cNvSpPr>
            <a:spLocks noGrp="1"/>
          </p:cNvSpPr>
          <p:nvPr/>
        </p:nvSpPr>
        <p:spPr>
          <a:xfrm>
            <a:off x="8220075" y="3514725"/>
            <a:ext cx="6143625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Путешествие</a:t>
            </a: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BDE6D9B7-E519-466A-8A8B-5ACF033CBDC0}"/>
              </a:ext>
            </a:extLst>
          </p:cNvPr>
          <p:cNvSpPr>
            <a:spLocks noGrp="1"/>
          </p:cNvSpPr>
          <p:nvPr/>
        </p:nvSpPr>
        <p:spPr>
          <a:xfrm>
            <a:off x="8029575" y="4429125"/>
            <a:ext cx="6524625" cy="781050"/>
          </a:xfrm>
          <a:prstGeom prst="roundRect">
            <a:avLst>
              <a:gd name="adj" fmla="val 29268"/>
            </a:avLst>
          </a:prstGeom>
          <a:gradFill>
            <a:gsLst>
              <a:gs pos="0">
                <a:srgbClr val="374AF3"/>
              </a:gs>
              <a:gs pos="48000">
                <a:srgbClr val="554DDE"/>
              </a:gs>
              <a:gs pos="100000">
                <a:srgbClr val="62047B"/>
              </a:gs>
            </a:gsLst>
            <a:lin ang="1500000"/>
          </a:gradFill>
          <a:ln w="9525">
            <a:solidFill>
              <a:srgbClr val="8C82F4">
                <a:alpha val="70000"/>
              </a:srgbClr>
            </a:solidFill>
          </a:ln>
        </p:spPr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3F9F3348-B122-4FF9-8DA8-D2ADABE3FADB}"/>
              </a:ext>
            </a:extLst>
          </p:cNvPr>
          <p:cNvSpPr>
            <a:spLocks noGrp="1"/>
          </p:cNvSpPr>
          <p:nvPr/>
        </p:nvSpPr>
        <p:spPr>
          <a:xfrm>
            <a:off x="8220075" y="4610100"/>
            <a:ext cx="6143625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ru-RU" sz="2400" b="1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Обмен гостеприимством</a:t>
            </a:r>
            <a:endParaRPr sz="2400" b="1" dirty="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B7560AC0-D9F9-49F3-B923-48E5805507BA}"/>
              </a:ext>
            </a:extLst>
          </p:cNvPr>
          <p:cNvSpPr>
            <a:spLocks noGrp="1"/>
          </p:cNvSpPr>
          <p:nvPr/>
        </p:nvSpPr>
        <p:spPr>
          <a:xfrm>
            <a:off x="8029575" y="5667375"/>
            <a:ext cx="6524625" cy="762000"/>
          </a:xfrm>
          <a:prstGeom prst="roundRect">
            <a:avLst>
              <a:gd name="adj" fmla="val 30000"/>
            </a:avLst>
          </a:prstGeom>
          <a:gradFill>
            <a:gsLst>
              <a:gs pos="0">
                <a:srgbClr val="25255A">
                  <a:alpha val="80000"/>
                </a:srgbClr>
              </a:gs>
              <a:gs pos="100000">
                <a:srgbClr val="14102F">
                  <a:alpha val="75000"/>
                </a:srgbClr>
              </a:gs>
            </a:gsLst>
            <a:lin ang="7800000"/>
          </a:gradFill>
          <a:ln w="9525">
            <a:solidFill>
              <a:srgbClr val="B7B5F0">
                <a:alpha val="20000"/>
              </a:srgbClr>
            </a:solidFill>
          </a:ln>
        </p:spPr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3FDD660B-BFFB-43DE-ADAA-F0DA00CB2A39}"/>
              </a:ext>
            </a:extLst>
          </p:cNvPr>
          <p:cNvSpPr>
            <a:spLocks noGrp="1"/>
          </p:cNvSpPr>
          <p:nvPr/>
        </p:nvSpPr>
        <p:spPr>
          <a:xfrm>
            <a:off x="8220075" y="5848350"/>
            <a:ext cx="6143625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Локальный опыт и новые знакомства</a:t>
            </a:r>
          </a:p>
        </p:txBody>
      </p:sp>
      <p:cxnSp>
        <p:nvCxnSpPr>
          <p:cNvPr id="41" name="Прямая со стрелкой 40"/>
          <p:cNvCxnSpPr>
            <a:stCxn id="13" idx="2"/>
            <a:endCxn id="15" idx="0"/>
          </p:cNvCxnSpPr>
          <p:nvPr/>
        </p:nvCxnSpPr>
        <p:spPr>
          <a:xfrm>
            <a:off x="11291888" y="4057650"/>
            <a:ext cx="0" cy="371475"/>
          </a:xfrm>
          <a:prstGeom prst="straightConnector1">
            <a:avLst/>
          </a:prstGeom>
          <a:ln w="19050">
            <a:solidFill>
              <a:srgbClr val="9A8FFA"/>
            </a:solidFill>
            <a:tailEnd type="triangle" w="sm" len="sm"/>
          </a:ln>
        </p:spPr>
      </p:cxnSp>
      <p:cxnSp>
        <p:nvCxnSpPr>
          <p:cNvPr id="42" name="Прямая со стрелкой 41"/>
          <p:cNvCxnSpPr>
            <a:stCxn id="15" idx="2"/>
            <a:endCxn id="17" idx="0"/>
          </p:cNvCxnSpPr>
          <p:nvPr/>
        </p:nvCxnSpPr>
        <p:spPr>
          <a:xfrm>
            <a:off x="11291888" y="5210175"/>
            <a:ext cx="0" cy="457200"/>
          </a:xfrm>
          <a:prstGeom prst="straightConnector1">
            <a:avLst/>
          </a:prstGeom>
          <a:ln w="19050">
            <a:solidFill>
              <a:srgbClr val="9A8FFA"/>
            </a:solidFill>
            <a:tailEnd type="triangle" w="sm" len="sm"/>
          </a:ln>
        </p:spPr>
      </p:cxn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68718F22-7675-4193-ACEA-8C66800B3F63}"/>
              </a:ext>
            </a:extLst>
          </p:cNvPr>
          <p:cNvSpPr>
            <a:spLocks noGrp="1"/>
          </p:cNvSpPr>
          <p:nvPr/>
        </p:nvSpPr>
        <p:spPr>
          <a:xfrm>
            <a:off x="685800" y="6781800"/>
            <a:ext cx="138684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Экономия, локальный опыт и новые знакомства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F7C83C31-2862-4CB4-BBD3-4FA89DA110F7}"/>
              </a:ext>
            </a:extLst>
          </p:cNvPr>
          <p:cNvSpPr>
            <a:spLocks noGrp="1"/>
          </p:cNvSpPr>
          <p:nvPr/>
        </p:nvSpPr>
        <p:spPr>
          <a:xfrm>
            <a:off x="685800" y="7400925"/>
            <a:ext cx="138684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425" b="0">
                <a:solidFill>
                  <a:srgbClr val="B2B5D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B2B5D5"/>
                </a:solidFill>
                <a:latin typeface="Helvetica Neue"/>
                <a:ea typeface="Helvetica Neue"/>
                <a:cs typeface="Helvetica Neue"/>
              </a:rPr>
              <a:t>Формат существует в мире, но в России остаётся нишевым сценарием путешествий.</a:t>
            </a:r>
          </a:p>
        </p:txBody>
      </p:sp>
    </p:spTree>
    <p:extLst>
      <p:ext uri="{BB962C8B-B14F-4D97-AF65-F5344CB8AC3E}">
        <p14:creationId xmlns:p14="http://schemas.microsoft.com/office/powerpoint/2010/main" val="13759081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6071C"/>
            </a:gs>
            <a:gs pos="58000">
              <a:srgbClr val="090B27"/>
            </a:gs>
            <a:gs pos="100000">
              <a:srgbClr val="14104F"/>
            </a:gs>
          </a:gsLst>
          <a:lin ang="15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2172D7FA-F5FF-4577-BD24-2CCA9B34F3A1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23825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350" b="1">
                <a:solidFill>
                  <a:srgbClr val="BE91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BE91D9"/>
                </a:solidFill>
                <a:latin typeface="Helvetica Neue"/>
                <a:ea typeface="Helvetica Neue"/>
                <a:cs typeface="Helvetica Neue"/>
              </a:rPr>
              <a:t>ИССЛЕДОВАНИЕ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8ABB316-EC10-42A9-8BE7-4945539BFCC7}"/>
              </a:ext>
            </a:extLst>
          </p:cNvPr>
          <p:cNvSpPr>
            <a:spLocks noGrp="1"/>
          </p:cNvSpPr>
          <p:nvPr/>
        </p:nvSpPr>
        <p:spPr>
          <a:xfrm>
            <a:off x="685800" y="904875"/>
            <a:ext cx="13868400" cy="1428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Категория существует,</a:t>
            </a:r>
          </a:p>
          <a:p>
            <a:pPr algn="l"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но пользователь о ней почти не знает</a:t>
            </a:r>
          </a:p>
        </p:txBody>
      </p:sp>
      <p:sp>
        <p:nv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CBFAE9C0-E300-4456-BD8F-E9B3A2B25A01}"/>
              </a:ext>
            </a:extLst>
          </p:cNvPr>
          <p:cNvSpPr>
            <a:spLocks noGrp="1"/>
          </p:cNvSpPr>
          <p:nvPr/>
        </p:nvSpPr>
        <p:spPr>
          <a:xfrm>
            <a:off x="685800" y="8001000"/>
            <a:ext cx="13868400" cy="0"/>
          </a:xfrm>
          <a:prstGeom prst="line">
            <a:avLst/>
          </a:prstGeom>
          <a:noFill/>
          <a:ln w="9525">
            <a:solidFill>
              <a:srgbClr val="FFFFFF">
                <a:alpha val="12000"/>
              </a:srgbClr>
            </a:solidFill>
          </a:ln>
        </p:spPr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653BBC3-2FC2-449B-97FD-71D65588C2A1}"/>
              </a:ext>
            </a:extLst>
          </p:cNvPr>
          <p:cNvSpPr>
            <a:spLocks noGrp="1"/>
          </p:cNvSpPr>
          <p:nvPr/>
        </p:nvSpPr>
        <p:spPr>
          <a:xfrm>
            <a:off x="685800" y="8153400"/>
            <a:ext cx="80962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125" b="0">
                <a:solidFill>
                  <a:srgbClr val="B2B5D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B2B5D5"/>
                </a:solidFill>
                <a:latin typeface="Helvetica Neue"/>
                <a:ea typeface="Helvetica Neue"/>
                <a:cs typeface="Helvetica Neue"/>
              </a:rPr>
              <a:t>HOSPITALITY EXCHANGE / MAX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2914E12-E100-49E1-9C5F-2DA8C53A90B4}"/>
              </a:ext>
            </a:extLst>
          </p:cNvPr>
          <p:cNvSpPr>
            <a:spLocks noGrp="1"/>
          </p:cNvSpPr>
          <p:nvPr/>
        </p:nvSpPr>
        <p:spPr>
          <a:xfrm>
            <a:off x="13887450" y="8115300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500" b="0">
                <a:solidFill>
                  <a:srgbClr val="B2B5D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B2B5D5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FABDD4C-D585-4433-BBE9-BFF5B5A70400}"/>
              </a:ext>
            </a:extLst>
          </p:cNvPr>
          <p:cNvSpPr>
            <a:spLocks noGrp="1"/>
          </p:cNvSpPr>
          <p:nvPr/>
        </p:nvSpPr>
        <p:spPr>
          <a:xfrm>
            <a:off x="685800" y="2428875"/>
            <a:ext cx="13868400" cy="53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700" b="1">
                <a:solidFill>
                  <a:srgbClr val="BE91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BE91D9"/>
                </a:solidFill>
                <a:latin typeface="Helvetica Neue"/>
                <a:ea typeface="Helvetica Neue"/>
                <a:cs typeface="Helvetica Neue"/>
              </a:rPr>
              <a:t>20 интервью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539E8CBB-961D-4875-9C03-E1FD976C7561}"/>
              </a:ext>
            </a:extLst>
          </p:cNvPr>
          <p:cNvSpPr>
            <a:spLocks noGrp="1"/>
          </p:cNvSpPr>
          <p:nvPr/>
        </p:nvSpPr>
        <p:spPr>
          <a:xfrm>
            <a:off x="685800" y="3276600"/>
            <a:ext cx="4495800" cy="2733675"/>
          </a:xfrm>
          <a:prstGeom prst="roundRect">
            <a:avLst>
              <a:gd name="adj" fmla="val 8362"/>
            </a:avLst>
          </a:prstGeom>
          <a:gradFill>
            <a:gsLst>
              <a:gs pos="0">
                <a:srgbClr val="374AF3"/>
              </a:gs>
              <a:gs pos="48000">
                <a:srgbClr val="554DDE"/>
              </a:gs>
              <a:gs pos="100000">
                <a:srgbClr val="62047B"/>
              </a:gs>
            </a:gsLst>
            <a:lin ang="1500000"/>
          </a:gradFill>
          <a:ln w="9525">
            <a:solidFill>
              <a:srgbClr val="8C82F4">
                <a:alpha val="70000"/>
              </a:srgbClr>
            </a:solidFill>
          </a:ln>
        </p:spPr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6F980482-A94F-4BC1-90AB-1A52F4AC4867}"/>
              </a:ext>
            </a:extLst>
          </p:cNvPr>
          <p:cNvSpPr>
            <a:spLocks noGrp="1"/>
          </p:cNvSpPr>
          <p:nvPr/>
        </p:nvSpPr>
        <p:spPr>
          <a:xfrm>
            <a:off x="990600" y="3524250"/>
            <a:ext cx="3905250" cy="1085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6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6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13/20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385FD255-5E43-40E9-9DF1-3A101B8A0943}"/>
              </a:ext>
            </a:extLst>
          </p:cNvPr>
          <p:cNvSpPr>
            <a:spLocks noGrp="1"/>
          </p:cNvSpPr>
          <p:nvPr/>
        </p:nvSpPr>
        <p:spPr>
          <a:xfrm>
            <a:off x="990600" y="4867275"/>
            <a:ext cx="3905250" cy="981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Впервые услышали о формате</a:t>
            </a:r>
          </a:p>
          <a:p>
            <a:pPr algn="l"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во время исследования</a:t>
            </a: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8B326FEF-5035-41EB-B0CB-2437C918B2A8}"/>
              </a:ext>
            </a:extLst>
          </p:cNvPr>
          <p:cNvSpPr>
            <a:spLocks noGrp="1"/>
          </p:cNvSpPr>
          <p:nvPr/>
        </p:nvSpPr>
        <p:spPr>
          <a:xfrm>
            <a:off x="5372100" y="3276600"/>
            <a:ext cx="4495800" cy="2733675"/>
          </a:xfrm>
          <a:prstGeom prst="roundRect">
            <a:avLst>
              <a:gd name="adj" fmla="val 8362"/>
            </a:avLst>
          </a:prstGeom>
          <a:gradFill>
            <a:gsLst>
              <a:gs pos="0">
                <a:srgbClr val="25255A">
                  <a:alpha val="80000"/>
                </a:srgbClr>
              </a:gs>
              <a:gs pos="100000">
                <a:srgbClr val="14102F">
                  <a:alpha val="75000"/>
                </a:srgbClr>
              </a:gs>
            </a:gsLst>
            <a:lin ang="7800000"/>
          </a:gradFill>
          <a:ln w="9525">
            <a:solidFill>
              <a:srgbClr val="B7B5F0">
                <a:alpha val="20000"/>
              </a:srgbClr>
            </a:solidFill>
          </a:ln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BD1BF8BF-DA65-4CAA-8605-B8E0F1A3078C}"/>
              </a:ext>
            </a:extLst>
          </p:cNvPr>
          <p:cNvSpPr>
            <a:spLocks noGrp="1"/>
          </p:cNvSpPr>
          <p:nvPr/>
        </p:nvSpPr>
        <p:spPr>
          <a:xfrm>
            <a:off x="5676900" y="3524250"/>
            <a:ext cx="3905250" cy="1085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6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6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6/20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E656A02-879D-4682-B27A-32151C662B90}"/>
              </a:ext>
            </a:extLst>
          </p:cNvPr>
          <p:cNvSpPr>
            <a:spLocks noGrp="1"/>
          </p:cNvSpPr>
          <p:nvPr/>
        </p:nvSpPr>
        <p:spPr>
          <a:xfrm>
            <a:off x="5676900" y="4867275"/>
            <a:ext cx="3905250" cy="981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Слышали, но никогда</a:t>
            </a:r>
          </a:p>
          <a:p>
            <a:pPr algn="l"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не пользовались</a:t>
            </a: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D2181D0E-9166-4C5E-A19D-43756C75109B}"/>
              </a:ext>
            </a:extLst>
          </p:cNvPr>
          <p:cNvSpPr>
            <a:spLocks noGrp="1"/>
          </p:cNvSpPr>
          <p:nvPr/>
        </p:nvSpPr>
        <p:spPr>
          <a:xfrm>
            <a:off x="10058400" y="3276600"/>
            <a:ext cx="4495800" cy="2733675"/>
          </a:xfrm>
          <a:prstGeom prst="roundRect">
            <a:avLst>
              <a:gd name="adj" fmla="val 8362"/>
            </a:avLst>
          </a:prstGeom>
          <a:gradFill>
            <a:gsLst>
              <a:gs pos="0">
                <a:srgbClr val="25255A">
                  <a:alpha val="80000"/>
                </a:srgbClr>
              </a:gs>
              <a:gs pos="100000">
                <a:srgbClr val="14102F">
                  <a:alpha val="75000"/>
                </a:srgbClr>
              </a:gs>
            </a:gsLst>
            <a:lin ang="7800000"/>
          </a:gradFill>
          <a:ln w="9525">
            <a:solidFill>
              <a:srgbClr val="B7B5F0">
                <a:alpha val="20000"/>
              </a:srgbClr>
            </a:solidFill>
          </a:ln>
        </p:spPr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EE20846E-4BB6-47AB-9712-6AD38AE60136}"/>
              </a:ext>
            </a:extLst>
          </p:cNvPr>
          <p:cNvSpPr>
            <a:spLocks noGrp="1"/>
          </p:cNvSpPr>
          <p:nvPr/>
        </p:nvSpPr>
        <p:spPr>
          <a:xfrm>
            <a:off x="10363200" y="3524250"/>
            <a:ext cx="3905250" cy="1085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6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6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0/20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9BD0E404-FF25-4D1D-B5BE-92E1E6242583}"/>
              </a:ext>
            </a:extLst>
          </p:cNvPr>
          <p:cNvSpPr>
            <a:spLocks noGrp="1"/>
          </p:cNvSpPr>
          <p:nvPr/>
        </p:nvSpPr>
        <p:spPr>
          <a:xfrm>
            <a:off x="10363200" y="4867275"/>
            <a:ext cx="3905250" cy="981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Ранее пользовались</a:t>
            </a:r>
          </a:p>
          <a:p>
            <a:pPr algn="l"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подобными сервисами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0E49B067-848C-40A3-8211-ED2127A11C43}"/>
              </a:ext>
            </a:extLst>
          </p:cNvPr>
          <p:cNvSpPr>
            <a:spLocks noGrp="1"/>
          </p:cNvSpPr>
          <p:nvPr/>
        </p:nvSpPr>
        <p:spPr>
          <a:xfrm>
            <a:off x="685800" y="6400800"/>
            <a:ext cx="13868400" cy="8667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7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Категория ещё не стала привычным</a:t>
            </a:r>
          </a:p>
          <a:p>
            <a:pPr algn="l">
              <a:defRPr sz="27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способом путешествий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A8477866-9B4B-47E7-96AC-B4C7E6D9DAA9}"/>
              </a:ext>
            </a:extLst>
          </p:cNvPr>
          <p:cNvSpPr>
            <a:spLocks noGrp="1"/>
          </p:cNvSpPr>
          <p:nvPr/>
        </p:nvSpPr>
        <p:spPr>
          <a:xfrm>
            <a:off x="685800" y="7400925"/>
            <a:ext cx="138684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425" b="0">
                <a:solidFill>
                  <a:srgbClr val="B2B5D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B2B5D5"/>
                </a:solidFill>
                <a:latin typeface="Helvetica Neue"/>
                <a:ea typeface="Helvetica Neue"/>
                <a:cs typeface="Helvetica Neue"/>
              </a:rPr>
              <a:t>Данные команды, n = 20. В группах осведомлённости описаны 19 ответов из 20. Выборка не представляет всю Россию.</a:t>
            </a:r>
          </a:p>
        </p:txBody>
      </p:sp>
    </p:spTree>
    <p:extLst>
      <p:ext uri="{BB962C8B-B14F-4D97-AF65-F5344CB8AC3E}">
        <p14:creationId xmlns:p14="http://schemas.microsoft.com/office/powerpoint/2010/main" val="19009933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6071C"/>
            </a:gs>
            <a:gs pos="58000">
              <a:srgbClr val="090B27"/>
            </a:gs>
            <a:gs pos="100000">
              <a:srgbClr val="14104F"/>
            </a:gs>
          </a:gsLst>
          <a:lin ang="15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B5ADC0BF-9E02-4EF1-8779-1EB861A57B93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23825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350" b="1">
                <a:solidFill>
                  <a:srgbClr val="BE91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BE91D9"/>
                </a:solidFill>
                <a:latin typeface="Helvetica Neue"/>
                <a:ea typeface="Helvetica Neue"/>
                <a:cs typeface="Helvetica Neue"/>
              </a:rPr>
              <a:t>AS IS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FA1EDAFF-257D-4BBA-98D8-1E64F13B9FC7}"/>
              </a:ext>
            </a:extLst>
          </p:cNvPr>
          <p:cNvSpPr>
            <a:spLocks noGrp="1"/>
          </p:cNvSpPr>
          <p:nvPr/>
        </p:nvSpPr>
        <p:spPr>
          <a:xfrm>
            <a:off x="685800" y="904875"/>
            <a:ext cx="13868400" cy="1428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Как выглядит путь пользователя сейчас</a:t>
            </a:r>
          </a:p>
        </p:txBody>
      </p:sp>
      <p:sp>
        <p:nv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0347D1B0-BE8B-4ABB-AF6E-BEE698D04771}"/>
              </a:ext>
            </a:extLst>
          </p:cNvPr>
          <p:cNvSpPr>
            <a:spLocks noGrp="1"/>
          </p:cNvSpPr>
          <p:nvPr/>
        </p:nvSpPr>
        <p:spPr>
          <a:xfrm>
            <a:off x="685800" y="8001000"/>
            <a:ext cx="13868400" cy="0"/>
          </a:xfrm>
          <a:prstGeom prst="line">
            <a:avLst/>
          </a:prstGeom>
          <a:noFill/>
          <a:ln w="9525">
            <a:solidFill>
              <a:srgbClr val="FFFFFF">
                <a:alpha val="12000"/>
              </a:srgbClr>
            </a:solidFill>
          </a:ln>
        </p:spPr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6C0BE14-D917-418D-821F-94051A16E0FF}"/>
              </a:ext>
            </a:extLst>
          </p:cNvPr>
          <p:cNvSpPr>
            <a:spLocks noGrp="1"/>
          </p:cNvSpPr>
          <p:nvPr/>
        </p:nvSpPr>
        <p:spPr>
          <a:xfrm>
            <a:off x="685800" y="8153400"/>
            <a:ext cx="80962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125" b="0">
                <a:solidFill>
                  <a:srgbClr val="B2B5D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B2B5D5"/>
                </a:solidFill>
                <a:latin typeface="Helvetica Neue"/>
                <a:ea typeface="Helvetica Neue"/>
                <a:cs typeface="Helvetica Neue"/>
              </a:rPr>
              <a:t>HOSPITALITY EXCHANGE / MAX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C1FCB3E-686A-489E-8B1B-9D1D166404B8}"/>
              </a:ext>
            </a:extLst>
          </p:cNvPr>
          <p:cNvSpPr>
            <a:spLocks noGrp="1"/>
          </p:cNvSpPr>
          <p:nvPr/>
        </p:nvSpPr>
        <p:spPr>
          <a:xfrm>
            <a:off x="13887450" y="8115300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500" b="0">
                <a:solidFill>
                  <a:srgbClr val="B2B5D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B2B5D5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CA83A37B-34E3-4759-AB61-E50EC5A6B969}"/>
              </a:ext>
            </a:extLst>
          </p:cNvPr>
          <p:cNvSpPr>
            <a:spLocks noGrp="1"/>
          </p:cNvSpPr>
          <p:nvPr/>
        </p:nvSpPr>
        <p:spPr>
          <a:xfrm>
            <a:off x="685800" y="2667000"/>
            <a:ext cx="3571875" cy="809625"/>
          </a:xfrm>
          <a:prstGeom prst="roundRect">
            <a:avLst>
              <a:gd name="adj" fmla="val 28235"/>
            </a:avLst>
          </a:prstGeom>
          <a:gradFill>
            <a:gsLst>
              <a:gs pos="0">
                <a:srgbClr val="374AF3"/>
              </a:gs>
              <a:gs pos="48000">
                <a:srgbClr val="554DDE"/>
              </a:gs>
              <a:gs pos="100000">
                <a:srgbClr val="62047B"/>
              </a:gs>
            </a:gsLst>
            <a:lin ang="1500000"/>
          </a:gradFill>
          <a:ln w="9525">
            <a:solidFill>
              <a:srgbClr val="8C82F4">
                <a:alpha val="70000"/>
              </a:srgbClr>
            </a:solidFill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F656F82B-EBA4-4FF5-8729-0AB9ED7C94DB}"/>
              </a:ext>
            </a:extLst>
          </p:cNvPr>
          <p:cNvSpPr>
            <a:spLocks noGrp="1"/>
          </p:cNvSpPr>
          <p:nvPr/>
        </p:nvSpPr>
        <p:spPr>
          <a:xfrm>
            <a:off x="876300" y="2847975"/>
            <a:ext cx="3190875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Хочет путешествовать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89A5F9E6-46F1-4AC3-95FF-DFE0F79D83C2}"/>
              </a:ext>
            </a:extLst>
          </p:cNvPr>
          <p:cNvSpPr>
            <a:spLocks noGrp="1"/>
          </p:cNvSpPr>
          <p:nvPr/>
        </p:nvSpPr>
        <p:spPr>
          <a:xfrm>
            <a:off x="5200650" y="2667000"/>
            <a:ext cx="4000500" cy="809625"/>
          </a:xfrm>
          <a:prstGeom prst="roundRect">
            <a:avLst>
              <a:gd name="adj" fmla="val 28235"/>
            </a:avLst>
          </a:prstGeom>
          <a:gradFill>
            <a:gsLst>
              <a:gs pos="0">
                <a:srgbClr val="25255A">
                  <a:alpha val="80000"/>
                </a:srgbClr>
              </a:gs>
              <a:gs pos="100000">
                <a:srgbClr val="14102F">
                  <a:alpha val="75000"/>
                </a:srgbClr>
              </a:gs>
            </a:gsLst>
            <a:lin ang="7800000"/>
          </a:gradFill>
          <a:ln w="9525">
            <a:solidFill>
              <a:srgbClr val="B7B5F0">
                <a:alpha val="20000"/>
              </a:srgbClr>
            </a:solidFill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62B79D9E-22F7-42F2-A3E9-5821AE1985EB}"/>
              </a:ext>
            </a:extLst>
          </p:cNvPr>
          <p:cNvSpPr>
            <a:spLocks noGrp="1"/>
          </p:cNvSpPr>
          <p:nvPr/>
        </p:nvSpPr>
        <p:spPr>
          <a:xfrm>
            <a:off x="5391150" y="2847975"/>
            <a:ext cx="361950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Не знает о формате</a:t>
            </a:r>
          </a:p>
        </p:txBody>
      </p:sp>
      <p:cxnSp>
        <p:nvCxnSpPr>
          <p:cNvPr id="37" name="Прямая со стрелкой 36"/>
          <p:cNvCxnSpPr>
            <a:stCxn id="6" idx="3"/>
            <a:endCxn id="8" idx="1"/>
          </p:cNvCxnSpPr>
          <p:nvPr/>
        </p:nvCxnSpPr>
        <p:spPr>
          <a:xfrm>
            <a:off x="4257675" y="3071813"/>
            <a:ext cx="942975" cy="0"/>
          </a:xfrm>
          <a:prstGeom prst="straightConnector1">
            <a:avLst/>
          </a:prstGeom>
          <a:ln w="19050">
            <a:solidFill>
              <a:srgbClr val="9A8FFA"/>
            </a:solidFill>
            <a:tailEnd type="triangle" w="sm" len="sm"/>
          </a:ln>
        </p:spPr>
      </p:cxn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71C91E1D-DECA-453A-A668-2F1DEAB1944F}"/>
              </a:ext>
            </a:extLst>
          </p:cNvPr>
          <p:cNvSpPr>
            <a:spLocks noGrp="1"/>
          </p:cNvSpPr>
          <p:nvPr/>
        </p:nvSpPr>
        <p:spPr>
          <a:xfrm>
            <a:off x="10477500" y="2333625"/>
            <a:ext cx="4076700" cy="809625"/>
          </a:xfrm>
          <a:prstGeom prst="roundRect">
            <a:avLst>
              <a:gd name="adj" fmla="val 28235"/>
            </a:avLst>
          </a:prstGeom>
          <a:gradFill>
            <a:gsLst>
              <a:gs pos="0">
                <a:srgbClr val="25255A">
                  <a:alpha val="80000"/>
                </a:srgbClr>
              </a:gs>
              <a:gs pos="100000">
                <a:srgbClr val="14102F">
                  <a:alpha val="75000"/>
                </a:srgbClr>
              </a:gs>
            </a:gsLst>
            <a:lin ang="7800000"/>
          </a:gradFill>
          <a:ln w="9525">
            <a:solidFill>
              <a:srgbClr val="B7B5F0">
                <a:alpha val="20000"/>
              </a:srgbClr>
            </a:solidFill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50E79D40-1F01-432B-8362-378D5F5E8720}"/>
              </a:ext>
            </a:extLst>
          </p:cNvPr>
          <p:cNvSpPr>
            <a:spLocks noGrp="1"/>
          </p:cNvSpPr>
          <p:nvPr/>
        </p:nvSpPr>
        <p:spPr>
          <a:xfrm>
            <a:off x="10668000" y="2514600"/>
            <a:ext cx="369570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Отель / Квартира / Хостел</a:t>
            </a: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F97224B6-3985-477D-957D-AEB829266FAE}"/>
              </a:ext>
            </a:extLst>
          </p:cNvPr>
          <p:cNvSpPr>
            <a:spLocks noGrp="1"/>
          </p:cNvSpPr>
          <p:nvPr/>
        </p:nvSpPr>
        <p:spPr>
          <a:xfrm>
            <a:off x="10477500" y="3857625"/>
            <a:ext cx="4076700" cy="809625"/>
          </a:xfrm>
          <a:prstGeom prst="roundRect">
            <a:avLst>
              <a:gd name="adj" fmla="val 28235"/>
            </a:avLst>
          </a:prstGeom>
          <a:gradFill>
            <a:gsLst>
              <a:gs pos="0">
                <a:srgbClr val="25255A">
                  <a:alpha val="80000"/>
                </a:srgbClr>
              </a:gs>
              <a:gs pos="100000">
                <a:srgbClr val="14102F">
                  <a:alpha val="75000"/>
                </a:srgbClr>
              </a:gs>
            </a:gsLst>
            <a:lin ang="7800000"/>
          </a:gradFill>
          <a:ln w="9525">
            <a:solidFill>
              <a:srgbClr val="B7B5F0">
                <a:alpha val="20000"/>
              </a:srgbClr>
            </a:solidFill>
          </a:ln>
        </p:spPr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B6A23757-36C4-44E6-902C-27C061264DEA}"/>
              </a:ext>
            </a:extLst>
          </p:cNvPr>
          <p:cNvSpPr>
            <a:spLocks noGrp="1"/>
          </p:cNvSpPr>
          <p:nvPr/>
        </p:nvSpPr>
        <p:spPr>
          <a:xfrm>
            <a:off x="10668000" y="4038600"/>
            <a:ext cx="369570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Telegram / Форумы / Сообщества</a:t>
            </a:r>
          </a:p>
        </p:txBody>
      </p:sp>
      <p:cxnSp>
        <p:nvCxnSpPr>
          <p:cNvPr id="42" name="Прямая со стрелкой 41"/>
          <p:cNvCxnSpPr>
            <a:stCxn id="8" idx="3"/>
            <a:endCxn id="11" idx="1"/>
          </p:cNvCxnSpPr>
          <p:nvPr/>
        </p:nvCxnSpPr>
        <p:spPr>
          <a:xfrm flipV="1">
            <a:off x="9201150" y="2738438"/>
            <a:ext cx="1276350" cy="333375"/>
          </a:xfrm>
          <a:prstGeom prst="straightConnector1">
            <a:avLst/>
          </a:prstGeom>
          <a:ln w="19050">
            <a:solidFill>
              <a:srgbClr val="9A8FFA"/>
            </a:solidFill>
            <a:tailEnd type="triangle" w="sm" len="sm"/>
          </a:ln>
        </p:spPr>
      </p:cxnSp>
      <p:cxnSp>
        <p:nvCxnSpPr>
          <p:cNvPr id="43" name="Прямая со стрелкой 42"/>
          <p:cNvCxnSpPr>
            <a:stCxn id="8" idx="3"/>
            <a:endCxn id="13" idx="1"/>
          </p:cNvCxnSpPr>
          <p:nvPr/>
        </p:nvCxnSpPr>
        <p:spPr>
          <a:xfrm>
            <a:off x="9201150" y="3071813"/>
            <a:ext cx="1276350" cy="1190625"/>
          </a:xfrm>
          <a:prstGeom prst="straightConnector1">
            <a:avLst/>
          </a:prstGeom>
          <a:ln w="19050">
            <a:solidFill>
              <a:srgbClr val="9A8FFA"/>
            </a:solidFill>
            <a:tailEnd type="triangle" w="sm" len="sm"/>
          </a:ln>
        </p:spPr>
      </p:cxn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C8F3A3FD-D72A-4268-8A03-1F5DDA4C9E7C}"/>
              </a:ext>
            </a:extLst>
          </p:cNvPr>
          <p:cNvSpPr>
            <a:spLocks noGrp="1"/>
          </p:cNvSpPr>
          <p:nvPr/>
        </p:nvSpPr>
        <p:spPr>
          <a:xfrm>
            <a:off x="10477500" y="1952625"/>
            <a:ext cx="40767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00" b="0">
                <a:solidFill>
                  <a:srgbClr val="B2B5D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B2B5D5"/>
                </a:solidFill>
                <a:latin typeface="Helvetica Neue"/>
                <a:ea typeface="Helvetica Neue"/>
                <a:cs typeface="Helvetica Neue"/>
              </a:rPr>
              <a:t>Привычные решения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91A75F20-C16A-4F23-87B9-7AC61F7BB07E}"/>
              </a:ext>
            </a:extLst>
          </p:cNvPr>
          <p:cNvSpPr>
            <a:spLocks noGrp="1"/>
          </p:cNvSpPr>
          <p:nvPr/>
        </p:nvSpPr>
        <p:spPr>
          <a:xfrm>
            <a:off x="10477500" y="3476625"/>
            <a:ext cx="40767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00" b="0">
                <a:solidFill>
                  <a:srgbClr val="B2B5D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B2B5D5"/>
                </a:solidFill>
                <a:latin typeface="Helvetica Neue"/>
                <a:ea typeface="Helvetica Neue"/>
                <a:cs typeface="Helvetica Neue"/>
              </a:rPr>
              <a:t>Самостоятельный поиск</a:t>
            </a:r>
          </a:p>
        </p:txBody>
      </p:sp>
      <p:sp>
        <p:nvSpPr>
          <p:cNvPr id="19" name="Прямая соединительная линия 18">
            <a:extLst>
              <a:ext uri="{FF2B5EF4-FFF2-40B4-BE49-F238E27FC236}">
                <a16:creationId xmlns:a16="http://schemas.microsoft.com/office/drawing/2014/main" id="{65704AEF-B711-489F-AED1-268A03F5D9C5}"/>
              </a:ext>
            </a:extLst>
          </p:cNvPr>
          <p:cNvSpPr>
            <a:spLocks noGrp="1"/>
          </p:cNvSpPr>
          <p:nvPr/>
        </p:nvSpPr>
        <p:spPr>
          <a:xfrm>
            <a:off x="685800" y="5372100"/>
            <a:ext cx="13868400" cy="0"/>
          </a:xfrm>
          <a:prstGeom prst="line">
            <a:avLst/>
          </a:prstGeom>
          <a:noFill/>
          <a:ln w="9525">
            <a:solidFill>
              <a:srgbClr val="FFFFFF">
                <a:alpha val="15000"/>
              </a:srgbClr>
            </a:solidFill>
          </a:ln>
        </p:spPr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181C548A-E37B-4DB7-90A6-75CC7DF42326}"/>
              </a:ext>
            </a:extLst>
          </p:cNvPr>
          <p:cNvSpPr>
            <a:spLocks noGrp="1"/>
          </p:cNvSpPr>
          <p:nvPr/>
        </p:nvSpPr>
        <p:spPr>
          <a:xfrm>
            <a:off x="685800" y="5715000"/>
            <a:ext cx="30480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950" b="1">
                <a:solidFill>
                  <a:srgbClr val="BE91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BE91D9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B2E0A7EC-A904-47A7-9264-30DBE79681E8}"/>
              </a:ext>
            </a:extLst>
          </p:cNvPr>
          <p:cNvSpPr>
            <a:spLocks noGrp="1"/>
          </p:cNvSpPr>
          <p:nvPr/>
        </p:nvSpPr>
        <p:spPr>
          <a:xfrm>
            <a:off x="685800" y="6238875"/>
            <a:ext cx="3238500" cy="904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Низкая</a:t>
            </a:r>
          </a:p>
          <a:p>
            <a:pPr algn="l">
              <a:def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узнаваемость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E38BE807-40A5-4975-B73F-41B06887B761}"/>
              </a:ext>
            </a:extLst>
          </p:cNvPr>
          <p:cNvSpPr>
            <a:spLocks noGrp="1"/>
          </p:cNvSpPr>
          <p:nvPr/>
        </p:nvSpPr>
        <p:spPr>
          <a:xfrm>
            <a:off x="4257675" y="5715000"/>
            <a:ext cx="30480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950" b="1">
                <a:solidFill>
                  <a:srgbClr val="BE91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BE91D9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266DB32C-7CF1-46E2-8C20-72842E09F2FD}"/>
              </a:ext>
            </a:extLst>
          </p:cNvPr>
          <p:cNvSpPr>
            <a:spLocks noGrp="1"/>
          </p:cNvSpPr>
          <p:nvPr/>
        </p:nvSpPr>
        <p:spPr>
          <a:xfrm>
            <a:off x="4257675" y="6238875"/>
            <a:ext cx="3238500" cy="904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Разрозненные</a:t>
            </a:r>
          </a:p>
          <a:p>
            <a:pPr algn="l">
              <a:def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сообщества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DED9047F-1F53-45AB-88D8-C72C8179B07B}"/>
              </a:ext>
            </a:extLst>
          </p:cNvPr>
          <p:cNvSpPr>
            <a:spLocks noGrp="1"/>
          </p:cNvSpPr>
          <p:nvPr/>
        </p:nvSpPr>
        <p:spPr>
          <a:xfrm>
            <a:off x="7829550" y="5715000"/>
            <a:ext cx="30480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950" b="1">
                <a:solidFill>
                  <a:srgbClr val="BE91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BE91D9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841F5179-B784-4E8B-8662-49F9E352E38D}"/>
              </a:ext>
            </a:extLst>
          </p:cNvPr>
          <p:cNvSpPr>
            <a:spLocks noGrp="1"/>
          </p:cNvSpPr>
          <p:nvPr/>
        </p:nvSpPr>
        <p:spPr>
          <a:xfrm>
            <a:off x="7829550" y="6238875"/>
            <a:ext cx="3238500" cy="904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Мало локальной</a:t>
            </a:r>
          </a:p>
          <a:p>
            <a:pPr algn="l">
              <a:def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плотности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0B3FD014-41C8-49AD-BF8B-DCC15E2102A4}"/>
              </a:ext>
            </a:extLst>
          </p:cNvPr>
          <p:cNvSpPr>
            <a:spLocks noGrp="1"/>
          </p:cNvSpPr>
          <p:nvPr/>
        </p:nvSpPr>
        <p:spPr>
          <a:xfrm>
            <a:off x="11401425" y="5715000"/>
            <a:ext cx="30480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950" b="1">
                <a:solidFill>
                  <a:srgbClr val="BE91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BE91D9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6DC7A456-0854-4330-8D16-337057D0C396}"/>
              </a:ext>
            </a:extLst>
          </p:cNvPr>
          <p:cNvSpPr>
            <a:spLocks noGrp="1"/>
          </p:cNvSpPr>
          <p:nvPr/>
        </p:nvSpPr>
        <p:spPr>
          <a:xfrm>
            <a:off x="11401425" y="6238875"/>
            <a:ext cx="3238500" cy="904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Сложно найти</a:t>
            </a:r>
          </a:p>
          <a:p>
            <a:pPr algn="l">
              <a:def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подходящего человека</a:t>
            </a:r>
          </a:p>
        </p:txBody>
      </p:sp>
    </p:spTree>
    <p:extLst>
      <p:ext uri="{BB962C8B-B14F-4D97-AF65-F5344CB8AC3E}">
        <p14:creationId xmlns:p14="http://schemas.microsoft.com/office/powerpoint/2010/main" val="2256328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6071C"/>
            </a:gs>
            <a:gs pos="58000">
              <a:srgbClr val="090B27"/>
            </a:gs>
            <a:gs pos="100000">
              <a:srgbClr val="14104F"/>
            </a:gs>
          </a:gsLst>
          <a:lin ang="15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DB2E5990-12F5-4697-9FD1-87D569BD4A1C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23825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350" b="1">
                <a:solidFill>
                  <a:srgbClr val="BE91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BE91D9"/>
                </a:solidFill>
                <a:latin typeface="Helvetica Neue"/>
                <a:ea typeface="Helvetica Neue"/>
                <a:cs typeface="Helvetica Neue"/>
              </a:rPr>
              <a:t>ЛОКАЛЬНАЯ ПЛОТНОСТЬ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964510D2-CFBE-479B-8612-96FBE049272E}"/>
              </a:ext>
            </a:extLst>
          </p:cNvPr>
          <p:cNvSpPr>
            <a:spLocks noGrp="1"/>
          </p:cNvSpPr>
          <p:nvPr/>
        </p:nvSpPr>
        <p:spPr>
          <a:xfrm>
            <a:off x="685800" y="904875"/>
            <a:ext cx="13868400" cy="1428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Проблема не в отсутствии платформы.</a:t>
            </a:r>
          </a:p>
          <a:p>
            <a:pPr algn="l"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Проблема в отсутствии локальной сети</a:t>
            </a:r>
          </a:p>
        </p:txBody>
      </p:sp>
      <p:sp>
        <p:nv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5E1C9794-485A-4A0C-A656-59DB38E8BC62}"/>
              </a:ext>
            </a:extLst>
          </p:cNvPr>
          <p:cNvSpPr>
            <a:spLocks noGrp="1"/>
          </p:cNvSpPr>
          <p:nvPr/>
        </p:nvSpPr>
        <p:spPr>
          <a:xfrm>
            <a:off x="685800" y="8001000"/>
            <a:ext cx="13868400" cy="0"/>
          </a:xfrm>
          <a:prstGeom prst="line">
            <a:avLst/>
          </a:prstGeom>
          <a:noFill/>
          <a:ln w="9525">
            <a:solidFill>
              <a:srgbClr val="FFFFFF">
                <a:alpha val="12000"/>
              </a:srgbClr>
            </a:solidFill>
          </a:ln>
        </p:spPr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F59296-89E8-40DA-B894-AAB192E9A2C4}"/>
              </a:ext>
            </a:extLst>
          </p:cNvPr>
          <p:cNvSpPr>
            <a:spLocks noGrp="1"/>
          </p:cNvSpPr>
          <p:nvPr/>
        </p:nvSpPr>
        <p:spPr>
          <a:xfrm>
            <a:off x="685800" y="8153400"/>
            <a:ext cx="80962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125" b="0">
                <a:solidFill>
                  <a:srgbClr val="B2B5D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B2B5D5"/>
                </a:solidFill>
                <a:latin typeface="Helvetica Neue"/>
                <a:ea typeface="Helvetica Neue"/>
                <a:cs typeface="Helvetica Neue"/>
              </a:rPr>
              <a:t>HOSPITALITY EXCHANGE / MAX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CAB9244-3989-48C9-9A39-AFCA916CAD9A}"/>
              </a:ext>
            </a:extLst>
          </p:cNvPr>
          <p:cNvSpPr>
            <a:spLocks noGrp="1"/>
          </p:cNvSpPr>
          <p:nvPr/>
        </p:nvSpPr>
        <p:spPr>
          <a:xfrm>
            <a:off x="13887450" y="8115300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500" b="0">
                <a:solidFill>
                  <a:srgbClr val="B2B5D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B2B5D5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2EAB78CB-C9EF-4F75-B94E-B616430734F6}"/>
              </a:ext>
            </a:extLst>
          </p:cNvPr>
          <p:cNvSpPr>
            <a:spLocks noGrp="1"/>
          </p:cNvSpPr>
          <p:nvPr/>
        </p:nvSpPr>
        <p:spPr>
          <a:xfrm>
            <a:off x="685800" y="2876550"/>
            <a:ext cx="6610350" cy="2952750"/>
          </a:xfrm>
          <a:prstGeom prst="roundRect">
            <a:avLst>
              <a:gd name="adj" fmla="val 7742"/>
            </a:avLst>
          </a:prstGeom>
          <a:gradFill>
            <a:gsLst>
              <a:gs pos="0">
                <a:srgbClr val="25255A">
                  <a:alpha val="80000"/>
                </a:srgbClr>
              </a:gs>
              <a:gs pos="100000">
                <a:srgbClr val="14102F">
                  <a:alpha val="75000"/>
                </a:srgbClr>
              </a:gs>
            </a:gsLst>
            <a:lin ang="7800000"/>
          </a:gradFill>
          <a:ln w="9525">
            <a:solidFill>
              <a:srgbClr val="B7B5F0">
                <a:alpha val="20000"/>
              </a:srgbClr>
            </a:solidFill>
          </a:ln>
        </p:spPr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595CFE47-3833-41AF-A26C-3CC193D0A9C5}"/>
              </a:ext>
            </a:extLst>
          </p:cNvPr>
          <p:cNvSpPr>
            <a:spLocks noGrp="1"/>
          </p:cNvSpPr>
          <p:nvPr/>
        </p:nvSpPr>
        <p:spPr>
          <a:xfrm>
            <a:off x="7620000" y="2876550"/>
            <a:ext cx="6934200" cy="2952750"/>
          </a:xfrm>
          <a:prstGeom prst="roundRect">
            <a:avLst>
              <a:gd name="adj" fmla="val 7742"/>
            </a:avLst>
          </a:prstGeom>
          <a:gradFill>
            <a:gsLst>
              <a:gs pos="0">
                <a:srgbClr val="374AF3"/>
              </a:gs>
              <a:gs pos="48000">
                <a:srgbClr val="554DDE"/>
              </a:gs>
              <a:gs pos="100000">
                <a:srgbClr val="62047B"/>
              </a:gs>
            </a:gsLst>
            <a:lin ang="1500000"/>
          </a:gradFill>
          <a:ln w="9525">
            <a:solidFill>
              <a:srgbClr val="8C82F4">
                <a:alpha val="70000"/>
              </a:srgbClr>
            </a:solidFill>
          </a:ln>
        </p:spPr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FAC366A2-F3E8-461F-8F2B-7BB0430CF1D5}"/>
              </a:ext>
            </a:extLst>
          </p:cNvPr>
          <p:cNvSpPr>
            <a:spLocks noGrp="1"/>
          </p:cNvSpPr>
          <p:nvPr/>
        </p:nvSpPr>
        <p:spPr>
          <a:xfrm>
            <a:off x="990600" y="3190875"/>
            <a:ext cx="5953125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325" b="1">
                <a:solidFill>
                  <a:srgbClr val="B2B5D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B2B5D5"/>
                </a:solidFill>
                <a:latin typeface="Helvetica Neue"/>
                <a:ea typeface="Helvetica Neue"/>
                <a:cs typeface="Helvetica Neue"/>
              </a:rPr>
              <a:t>Международный сервис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A8AD4046-1FF6-4253-967D-1D99835E9685}"/>
              </a:ext>
            </a:extLst>
          </p:cNvPr>
          <p:cNvSpPr>
            <a:spLocks noGrp="1"/>
          </p:cNvSpPr>
          <p:nvPr/>
        </p:nvSpPr>
        <p:spPr>
          <a:xfrm>
            <a:off x="990600" y="3981450"/>
            <a:ext cx="59055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Глобальная аудитория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6F5F5D0B-E99C-4C32-BCCE-3B541ED0F330}"/>
              </a:ext>
            </a:extLst>
          </p:cNvPr>
          <p:cNvSpPr>
            <a:spLocks noGrp="1"/>
          </p:cNvSpPr>
          <p:nvPr/>
        </p:nvSpPr>
        <p:spPr>
          <a:xfrm>
            <a:off x="990600" y="4781550"/>
            <a:ext cx="5905500" cy="742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0">
                <a:solidFill>
                  <a:srgbClr val="B2B5D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B2B5D5"/>
                </a:solidFill>
                <a:latin typeface="Helvetica Neue"/>
                <a:ea typeface="Helvetica Neue"/>
                <a:cs typeface="Helvetica Neue"/>
              </a:rPr>
              <a:t>Не всегда есть подходящий</a:t>
            </a:r>
          </a:p>
          <a:p>
            <a:pPr algn="l">
              <a:defRPr sz="2175" b="0">
                <a:solidFill>
                  <a:srgbClr val="B2B5D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B2B5D5"/>
                </a:solidFill>
                <a:latin typeface="Helvetica Neue"/>
                <a:ea typeface="Helvetica Neue"/>
                <a:cs typeface="Helvetica Neue"/>
              </a:rPr>
              <a:t>человек рядом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9DE02BC9-4207-4CE1-9A43-2ED5CF549B55}"/>
              </a:ext>
            </a:extLst>
          </p:cNvPr>
          <p:cNvSpPr>
            <a:spLocks noGrp="1"/>
          </p:cNvSpPr>
          <p:nvPr/>
        </p:nvSpPr>
        <p:spPr>
          <a:xfrm>
            <a:off x="7924800" y="3190875"/>
            <a:ext cx="60007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Наш подход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72B027C3-EABC-4BDB-B206-AF0B103BDC12}"/>
              </a:ext>
            </a:extLst>
          </p:cNvPr>
          <p:cNvSpPr>
            <a:spLocks noGrp="1"/>
          </p:cNvSpPr>
          <p:nvPr/>
        </p:nvSpPr>
        <p:spPr>
          <a:xfrm>
            <a:off x="7924800" y="3952875"/>
            <a:ext cx="60007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Российские города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4331393C-A28E-469E-A5F0-0F096151D813}"/>
              </a:ext>
            </a:extLst>
          </p:cNvPr>
          <p:cNvSpPr>
            <a:spLocks noGrp="1"/>
          </p:cNvSpPr>
          <p:nvPr/>
        </p:nvSpPr>
        <p:spPr>
          <a:xfrm>
            <a:off x="7924800" y="4676775"/>
            <a:ext cx="600075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Локальные сообщества</a:t>
            </a:r>
          </a:p>
          <a:p>
            <a:pPr algn="l">
              <a:defRPr sz="21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Больше вероятность совпадения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DAE2FFB5-4746-43B3-AB6B-F6AFBAE3791C}"/>
              </a:ext>
            </a:extLst>
          </p:cNvPr>
          <p:cNvSpPr>
            <a:spLocks noGrp="1"/>
          </p:cNvSpPr>
          <p:nvPr/>
        </p:nvSpPr>
        <p:spPr>
          <a:xfrm>
            <a:off x="685800" y="6296025"/>
            <a:ext cx="1386840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«Marketplace ценен не количеством пользователей,</a:t>
            </a:r>
          </a:p>
          <a:p>
            <a:pPr algn="l">
              <a:def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а количеством успешных совпадений»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3A3B25A4-ED7B-4232-A75F-961362CA0279}"/>
              </a:ext>
            </a:extLst>
          </p:cNvPr>
          <p:cNvSpPr>
            <a:spLocks noGrp="1"/>
          </p:cNvSpPr>
          <p:nvPr/>
        </p:nvSpPr>
        <p:spPr>
          <a:xfrm>
            <a:off x="685800" y="7400925"/>
            <a:ext cx="138684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425" b="0">
                <a:solidFill>
                  <a:srgbClr val="B2B5D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B2B5D5"/>
                </a:solidFill>
                <a:latin typeface="Helvetica Neue"/>
                <a:ea typeface="Helvetica Neue"/>
                <a:cs typeface="Helvetica Neue"/>
              </a:rPr>
              <a:t>Гипотеза: концентрация участников в выбранных городах повышает вероятность подходящего совпадения.</a:t>
            </a:r>
          </a:p>
        </p:txBody>
      </p:sp>
    </p:spTree>
    <p:extLst>
      <p:ext uri="{BB962C8B-B14F-4D97-AF65-F5344CB8AC3E}">
        <p14:creationId xmlns:p14="http://schemas.microsoft.com/office/powerpoint/2010/main" val="11197095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6071C"/>
            </a:gs>
            <a:gs pos="58000">
              <a:srgbClr val="090B27"/>
            </a:gs>
            <a:gs pos="100000">
              <a:srgbClr val="14104F"/>
            </a:gs>
          </a:gsLst>
          <a:lin ang="15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2B3F7158-A457-4797-8522-0697B16F4BDE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23825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350" b="1">
                <a:solidFill>
                  <a:srgbClr val="BE91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BE91D9"/>
                </a:solidFill>
                <a:latin typeface="Helvetica Neue"/>
                <a:ea typeface="Helvetica Neue"/>
                <a:cs typeface="Helvetica Neue"/>
              </a:rPr>
              <a:t>РЕШЕНИЕ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5632501-92AD-46DB-BA3B-202D98B74566}"/>
              </a:ext>
            </a:extLst>
          </p:cNvPr>
          <p:cNvSpPr>
            <a:spLocks noGrp="1"/>
          </p:cNvSpPr>
          <p:nvPr/>
        </p:nvSpPr>
        <p:spPr>
          <a:xfrm>
            <a:off x="685800" y="904875"/>
            <a:ext cx="13868400" cy="1428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 dirty="0" err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Локальный</a:t>
            </a:r>
            <a:r>
              <a:rPr sz="3600" b="1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3600" b="1" dirty="0" err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слой</a:t>
            </a:r>
            <a:r>
              <a:rPr sz="3600" b="1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lang="ru-RU" sz="3600" b="1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обмен гостеприимством</a:t>
            </a:r>
            <a:endParaRPr sz="3600" b="1" dirty="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  <a:p>
            <a:pPr algn="l"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 dirty="0" err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внутри</a:t>
            </a:r>
            <a:r>
              <a:rPr sz="3600" b="1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MAX</a:t>
            </a:r>
          </a:p>
        </p:txBody>
      </p:sp>
      <p:sp>
        <p:nv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BF0322CC-A50F-4563-8E44-EE554C1C14ED}"/>
              </a:ext>
            </a:extLst>
          </p:cNvPr>
          <p:cNvSpPr>
            <a:spLocks noGrp="1"/>
          </p:cNvSpPr>
          <p:nvPr/>
        </p:nvSpPr>
        <p:spPr>
          <a:xfrm>
            <a:off x="685800" y="8001000"/>
            <a:ext cx="13868400" cy="0"/>
          </a:xfrm>
          <a:prstGeom prst="line">
            <a:avLst/>
          </a:prstGeom>
          <a:noFill/>
          <a:ln w="9525">
            <a:solidFill>
              <a:srgbClr val="FFFFFF">
                <a:alpha val="12000"/>
              </a:srgbClr>
            </a:solidFill>
          </a:ln>
        </p:spPr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EE9D2271-09ED-4E83-8319-8001331ABD4D}"/>
              </a:ext>
            </a:extLst>
          </p:cNvPr>
          <p:cNvSpPr>
            <a:spLocks noGrp="1"/>
          </p:cNvSpPr>
          <p:nvPr/>
        </p:nvSpPr>
        <p:spPr>
          <a:xfrm>
            <a:off x="685800" y="8153400"/>
            <a:ext cx="80962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125" b="0">
                <a:solidFill>
                  <a:srgbClr val="B2B5D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B2B5D5"/>
                </a:solidFill>
                <a:latin typeface="Helvetica Neue"/>
                <a:ea typeface="Helvetica Neue"/>
                <a:cs typeface="Helvetica Neue"/>
              </a:rPr>
              <a:t>HOSPITALITY EXCHANGE / MAX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8255E10-5555-4D70-A0F3-F680B7E32E46}"/>
              </a:ext>
            </a:extLst>
          </p:cNvPr>
          <p:cNvSpPr>
            <a:spLocks noGrp="1"/>
          </p:cNvSpPr>
          <p:nvPr/>
        </p:nvSpPr>
        <p:spPr>
          <a:xfrm>
            <a:off x="13887450" y="8115300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500" b="0">
                <a:solidFill>
                  <a:srgbClr val="B2B5D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B2B5D5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6657B3A7-15FE-4948-85FE-886C13D7BFCA}"/>
              </a:ext>
            </a:extLst>
          </p:cNvPr>
          <p:cNvSpPr>
            <a:spLocks noGrp="1"/>
          </p:cNvSpPr>
          <p:nvPr/>
        </p:nvSpPr>
        <p:spPr>
          <a:xfrm>
            <a:off x="685800" y="2905125"/>
            <a:ext cx="21431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950" b="1">
                <a:solidFill>
                  <a:srgbClr val="BE91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BE91D9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588ABBCC-D5AB-4002-848A-51A07DFC0C07}"/>
              </a:ext>
            </a:extLst>
          </p:cNvPr>
          <p:cNvSpPr>
            <a:spLocks noGrp="1"/>
          </p:cNvSpPr>
          <p:nvPr/>
        </p:nvSpPr>
        <p:spPr>
          <a:xfrm>
            <a:off x="685800" y="3667125"/>
            <a:ext cx="2105025" cy="1276350"/>
          </a:xfrm>
          <a:prstGeom prst="roundRect">
            <a:avLst>
              <a:gd name="adj" fmla="val 17910"/>
            </a:avLst>
          </a:prstGeom>
          <a:gradFill>
            <a:gsLst>
              <a:gs pos="0">
                <a:srgbClr val="25255A">
                  <a:alpha val="80000"/>
                </a:srgbClr>
              </a:gs>
              <a:gs pos="100000">
                <a:srgbClr val="14102F">
                  <a:alpha val="75000"/>
                </a:srgbClr>
              </a:gs>
            </a:gsLst>
            <a:lin ang="7800000"/>
          </a:gradFill>
          <a:ln w="9525">
            <a:solidFill>
              <a:srgbClr val="B7B5F0">
                <a:alpha val="20000"/>
              </a:srgbClr>
            </a:solidFill>
          </a:ln>
        </p:spPr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CEF72469-EADB-45E6-9079-0A38CD1384A6}"/>
              </a:ext>
            </a:extLst>
          </p:cNvPr>
          <p:cNvSpPr>
            <a:spLocks noGrp="1"/>
          </p:cNvSpPr>
          <p:nvPr/>
        </p:nvSpPr>
        <p:spPr>
          <a:xfrm>
            <a:off x="876300" y="3848100"/>
            <a:ext cx="1724025" cy="1009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Поиск города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BAFD00F7-9E12-4585-BDE6-9B0D3E8A088E}"/>
              </a:ext>
            </a:extLst>
          </p:cNvPr>
          <p:cNvSpPr>
            <a:spLocks noGrp="1"/>
          </p:cNvSpPr>
          <p:nvPr/>
        </p:nvSpPr>
        <p:spPr>
          <a:xfrm>
            <a:off x="3038475" y="2905125"/>
            <a:ext cx="21431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950" b="1">
                <a:solidFill>
                  <a:srgbClr val="BE91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BE91D9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C115E52D-3B8A-4F49-B2D2-E59BE19F22CE}"/>
              </a:ext>
            </a:extLst>
          </p:cNvPr>
          <p:cNvSpPr>
            <a:spLocks noGrp="1"/>
          </p:cNvSpPr>
          <p:nvPr/>
        </p:nvSpPr>
        <p:spPr>
          <a:xfrm>
            <a:off x="3038475" y="3667125"/>
            <a:ext cx="2105025" cy="1276350"/>
          </a:xfrm>
          <a:prstGeom prst="roundRect">
            <a:avLst>
              <a:gd name="adj" fmla="val 17910"/>
            </a:avLst>
          </a:prstGeom>
          <a:gradFill>
            <a:gsLst>
              <a:gs pos="0">
                <a:srgbClr val="25255A">
                  <a:alpha val="80000"/>
                </a:srgbClr>
              </a:gs>
              <a:gs pos="100000">
                <a:srgbClr val="14102F">
                  <a:alpha val="75000"/>
                </a:srgbClr>
              </a:gs>
            </a:gsLst>
            <a:lin ang="7800000"/>
          </a:gradFill>
          <a:ln w="9525">
            <a:solidFill>
              <a:srgbClr val="B7B5F0">
                <a:alpha val="20000"/>
              </a:srgbClr>
            </a:solidFill>
          </a:ln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B4D6FE68-AA24-4066-9AAC-0E536DC73280}"/>
              </a:ext>
            </a:extLst>
          </p:cNvPr>
          <p:cNvSpPr>
            <a:spLocks noGrp="1"/>
          </p:cNvSpPr>
          <p:nvPr/>
        </p:nvSpPr>
        <p:spPr>
          <a:xfrm>
            <a:off x="3228975" y="3848100"/>
            <a:ext cx="1724025" cy="1009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Профиль</a:t>
            </a:r>
          </a:p>
        </p:txBody>
      </p:sp>
      <p:cxnSp>
        <p:nvCxnSpPr>
          <p:cNvPr id="42" name="Прямая со стрелкой 41"/>
          <p:cNvCxnSpPr>
            <a:stCxn id="7" idx="3"/>
            <a:endCxn id="10" idx="1"/>
          </p:cNvCxnSpPr>
          <p:nvPr/>
        </p:nvCxnSpPr>
        <p:spPr>
          <a:xfrm>
            <a:off x="2790825" y="4305300"/>
            <a:ext cx="247650" cy="0"/>
          </a:xfrm>
          <a:prstGeom prst="straightConnector1">
            <a:avLst/>
          </a:prstGeom>
          <a:ln w="19050">
            <a:solidFill>
              <a:srgbClr val="9A8FFA"/>
            </a:solidFill>
            <a:tailEnd type="triangle" w="sm" len="sm"/>
          </a:ln>
        </p:spPr>
      </p:cxn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31EE6E95-4102-4E7F-A87D-0DF46D3D84D2}"/>
              </a:ext>
            </a:extLst>
          </p:cNvPr>
          <p:cNvSpPr>
            <a:spLocks noGrp="1"/>
          </p:cNvSpPr>
          <p:nvPr/>
        </p:nvSpPr>
        <p:spPr>
          <a:xfrm>
            <a:off x="5391150" y="2905125"/>
            <a:ext cx="21431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950" b="1">
                <a:solidFill>
                  <a:srgbClr val="BE91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BE91D9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3F6B7DC1-2E5E-4443-B7DA-0776FF43CC36}"/>
              </a:ext>
            </a:extLst>
          </p:cNvPr>
          <p:cNvSpPr>
            <a:spLocks noGrp="1"/>
          </p:cNvSpPr>
          <p:nvPr/>
        </p:nvSpPr>
        <p:spPr>
          <a:xfrm>
            <a:off x="5391150" y="3667125"/>
            <a:ext cx="2105025" cy="1276350"/>
          </a:xfrm>
          <a:prstGeom prst="roundRect">
            <a:avLst>
              <a:gd name="adj" fmla="val 17910"/>
            </a:avLst>
          </a:prstGeom>
          <a:gradFill>
            <a:gsLst>
              <a:gs pos="0">
                <a:srgbClr val="25255A">
                  <a:alpha val="80000"/>
                </a:srgbClr>
              </a:gs>
              <a:gs pos="100000">
                <a:srgbClr val="14102F">
                  <a:alpha val="75000"/>
                </a:srgbClr>
              </a:gs>
            </a:gsLst>
            <a:lin ang="7800000"/>
          </a:gradFill>
          <a:ln w="9525">
            <a:solidFill>
              <a:srgbClr val="B7B5F0">
                <a:alpha val="20000"/>
              </a:srgbClr>
            </a:solidFill>
          </a:ln>
        </p:spPr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1815E22F-02A5-46D7-AEB8-E3BF367FE093}"/>
              </a:ext>
            </a:extLst>
          </p:cNvPr>
          <p:cNvSpPr>
            <a:spLocks noGrp="1"/>
          </p:cNvSpPr>
          <p:nvPr/>
        </p:nvSpPr>
        <p:spPr>
          <a:xfrm>
            <a:off x="5581650" y="3848100"/>
            <a:ext cx="1724025" cy="1009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Репутация</a:t>
            </a:r>
          </a:p>
        </p:txBody>
      </p:sp>
      <p:cxnSp>
        <p:nvCxnSpPr>
          <p:cNvPr id="46" name="Прямая со стрелкой 45"/>
          <p:cNvCxnSpPr>
            <a:stCxn id="10" idx="3"/>
            <a:endCxn id="14" idx="1"/>
          </p:cNvCxnSpPr>
          <p:nvPr/>
        </p:nvCxnSpPr>
        <p:spPr>
          <a:xfrm>
            <a:off x="5143500" y="4305300"/>
            <a:ext cx="247650" cy="0"/>
          </a:xfrm>
          <a:prstGeom prst="straightConnector1">
            <a:avLst/>
          </a:prstGeom>
          <a:ln w="19050">
            <a:solidFill>
              <a:srgbClr val="9A8FFA"/>
            </a:solidFill>
            <a:tailEnd type="triangle" w="sm" len="sm"/>
          </a:ln>
        </p:spPr>
      </p:cxn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F09CDFB7-650E-4FE4-816F-8BD810E08346}"/>
              </a:ext>
            </a:extLst>
          </p:cNvPr>
          <p:cNvSpPr>
            <a:spLocks noGrp="1"/>
          </p:cNvSpPr>
          <p:nvPr/>
        </p:nvSpPr>
        <p:spPr>
          <a:xfrm>
            <a:off x="7743825" y="2905125"/>
            <a:ext cx="21431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950" b="1">
                <a:solidFill>
                  <a:srgbClr val="BE91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BE91D9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BE8BC9A6-3A81-427B-8DF9-796C060C1438}"/>
              </a:ext>
            </a:extLst>
          </p:cNvPr>
          <p:cNvSpPr>
            <a:spLocks noGrp="1"/>
          </p:cNvSpPr>
          <p:nvPr/>
        </p:nvSpPr>
        <p:spPr>
          <a:xfrm>
            <a:off x="7743825" y="3667125"/>
            <a:ext cx="2105025" cy="1276350"/>
          </a:xfrm>
          <a:prstGeom prst="roundRect">
            <a:avLst>
              <a:gd name="adj" fmla="val 17910"/>
            </a:avLst>
          </a:prstGeom>
          <a:gradFill>
            <a:gsLst>
              <a:gs pos="0">
                <a:srgbClr val="25255A">
                  <a:alpha val="80000"/>
                </a:srgbClr>
              </a:gs>
              <a:gs pos="100000">
                <a:srgbClr val="14102F">
                  <a:alpha val="75000"/>
                </a:srgbClr>
              </a:gs>
            </a:gsLst>
            <a:lin ang="7800000"/>
          </a:gradFill>
          <a:ln w="9525">
            <a:solidFill>
              <a:srgbClr val="B7B5F0">
                <a:alpha val="20000"/>
              </a:srgbClr>
            </a:solidFill>
          </a:ln>
        </p:spPr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D16A0243-CFA0-4652-9BD4-B17BD4DCBC7E}"/>
              </a:ext>
            </a:extLst>
          </p:cNvPr>
          <p:cNvSpPr>
            <a:spLocks noGrp="1"/>
          </p:cNvSpPr>
          <p:nvPr/>
        </p:nvSpPr>
        <p:spPr>
          <a:xfrm>
            <a:off x="7934325" y="3848100"/>
            <a:ext cx="1724025" cy="1009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Запрос</a:t>
            </a:r>
          </a:p>
        </p:txBody>
      </p:sp>
      <p:cxnSp>
        <p:nvCxnSpPr>
          <p:cNvPr id="50" name="Прямая со стрелкой 49"/>
          <p:cNvCxnSpPr>
            <a:stCxn id="14" idx="3"/>
            <a:endCxn id="18" idx="1"/>
          </p:cNvCxnSpPr>
          <p:nvPr/>
        </p:nvCxnSpPr>
        <p:spPr>
          <a:xfrm>
            <a:off x="7496175" y="4305300"/>
            <a:ext cx="247650" cy="0"/>
          </a:xfrm>
          <a:prstGeom prst="straightConnector1">
            <a:avLst/>
          </a:prstGeom>
          <a:ln w="19050">
            <a:solidFill>
              <a:srgbClr val="9A8FFA"/>
            </a:solidFill>
            <a:tailEnd type="triangle" w="sm" len="sm"/>
          </a:ln>
        </p:spPr>
      </p:cxn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2C6A3EB2-2D5E-4DF0-B40C-F70B44E28A8A}"/>
              </a:ext>
            </a:extLst>
          </p:cNvPr>
          <p:cNvSpPr>
            <a:spLocks noGrp="1"/>
          </p:cNvSpPr>
          <p:nvPr/>
        </p:nvSpPr>
        <p:spPr>
          <a:xfrm>
            <a:off x="10096500" y="2905125"/>
            <a:ext cx="21431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950" b="1">
                <a:solidFill>
                  <a:srgbClr val="BE91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BE91D9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2" name="Прямоугольник: скругленные углы 21">
            <a:extLst>
              <a:ext uri="{FF2B5EF4-FFF2-40B4-BE49-F238E27FC236}">
                <a16:creationId xmlns:a16="http://schemas.microsoft.com/office/drawing/2014/main" id="{5BB51A31-8897-41ED-819D-169E9187967C}"/>
              </a:ext>
            </a:extLst>
          </p:cNvPr>
          <p:cNvSpPr>
            <a:spLocks noGrp="1"/>
          </p:cNvSpPr>
          <p:nvPr/>
        </p:nvSpPr>
        <p:spPr>
          <a:xfrm>
            <a:off x="10096500" y="3667125"/>
            <a:ext cx="2105025" cy="1276350"/>
          </a:xfrm>
          <a:prstGeom prst="roundRect">
            <a:avLst>
              <a:gd name="adj" fmla="val 17910"/>
            </a:avLst>
          </a:prstGeom>
          <a:gradFill>
            <a:gsLst>
              <a:gs pos="0">
                <a:srgbClr val="374AF3"/>
              </a:gs>
              <a:gs pos="48000">
                <a:srgbClr val="554DDE"/>
              </a:gs>
              <a:gs pos="100000">
                <a:srgbClr val="62047B"/>
              </a:gs>
            </a:gsLst>
            <a:lin ang="1500000"/>
          </a:gradFill>
          <a:ln w="9525">
            <a:solidFill>
              <a:srgbClr val="8C82F4">
                <a:alpha val="70000"/>
              </a:srgbClr>
            </a:solidFill>
          </a:ln>
        </p:spPr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D9ED5DCA-8F2D-4733-9A2B-D8749AF9EA04}"/>
              </a:ext>
            </a:extLst>
          </p:cNvPr>
          <p:cNvSpPr>
            <a:spLocks noGrp="1"/>
          </p:cNvSpPr>
          <p:nvPr/>
        </p:nvSpPr>
        <p:spPr>
          <a:xfrm>
            <a:off x="10287000" y="3848100"/>
            <a:ext cx="1724025" cy="1009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Предварительное</a:t>
            </a:r>
          </a:p>
          <a:p>
            <a:pPr algn="ctr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одобрение</a:t>
            </a:r>
          </a:p>
        </p:txBody>
      </p:sp>
      <p:cxnSp>
        <p:nvCxnSpPr>
          <p:cNvPr id="54" name="Прямая со стрелкой 53"/>
          <p:cNvCxnSpPr>
            <a:stCxn id="18" idx="3"/>
            <a:endCxn id="22" idx="1"/>
          </p:cNvCxnSpPr>
          <p:nvPr/>
        </p:nvCxnSpPr>
        <p:spPr>
          <a:xfrm>
            <a:off x="9848850" y="4305300"/>
            <a:ext cx="247650" cy="0"/>
          </a:xfrm>
          <a:prstGeom prst="straightConnector1">
            <a:avLst/>
          </a:prstGeom>
          <a:ln w="19050">
            <a:solidFill>
              <a:srgbClr val="9A8FFA"/>
            </a:solidFill>
            <a:tailEnd type="triangle" w="sm" len="sm"/>
          </a:ln>
        </p:spPr>
      </p:cxn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0DA91F88-DE68-44E7-9CC6-23B93F21669A}"/>
              </a:ext>
            </a:extLst>
          </p:cNvPr>
          <p:cNvSpPr>
            <a:spLocks noGrp="1"/>
          </p:cNvSpPr>
          <p:nvPr/>
        </p:nvSpPr>
        <p:spPr>
          <a:xfrm>
            <a:off x="12449175" y="2905125"/>
            <a:ext cx="21431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950" b="1">
                <a:solidFill>
                  <a:srgbClr val="BE91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BE91D9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26" name="Прямоугольник: скругленные углы 25">
            <a:extLst>
              <a:ext uri="{FF2B5EF4-FFF2-40B4-BE49-F238E27FC236}">
                <a16:creationId xmlns:a16="http://schemas.microsoft.com/office/drawing/2014/main" id="{23F2AB0E-5791-4F15-A852-1A011AF9488A}"/>
              </a:ext>
            </a:extLst>
          </p:cNvPr>
          <p:cNvSpPr>
            <a:spLocks noGrp="1"/>
          </p:cNvSpPr>
          <p:nvPr/>
        </p:nvSpPr>
        <p:spPr>
          <a:xfrm>
            <a:off x="12449175" y="3667125"/>
            <a:ext cx="2105025" cy="1276350"/>
          </a:xfrm>
          <a:prstGeom prst="roundRect">
            <a:avLst>
              <a:gd name="adj" fmla="val 17910"/>
            </a:avLst>
          </a:prstGeom>
          <a:gradFill>
            <a:gsLst>
              <a:gs pos="0">
                <a:srgbClr val="25255A">
                  <a:alpha val="80000"/>
                </a:srgbClr>
              </a:gs>
              <a:gs pos="100000">
                <a:srgbClr val="14102F">
                  <a:alpha val="75000"/>
                </a:srgbClr>
              </a:gs>
            </a:gsLst>
            <a:lin ang="7800000"/>
          </a:gradFill>
          <a:ln w="9525">
            <a:solidFill>
              <a:srgbClr val="B7B5F0">
                <a:alpha val="20000"/>
              </a:srgbClr>
            </a:solidFill>
          </a:ln>
        </p:spPr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2692F6CF-A252-4F74-8704-9A58F1951338}"/>
              </a:ext>
            </a:extLst>
          </p:cNvPr>
          <p:cNvSpPr>
            <a:spLocks noGrp="1"/>
          </p:cNvSpPr>
          <p:nvPr/>
        </p:nvSpPr>
        <p:spPr>
          <a:xfrm>
            <a:off x="12639675" y="3848100"/>
            <a:ext cx="1724025" cy="1009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Общение</a:t>
            </a:r>
          </a:p>
        </p:txBody>
      </p:sp>
      <p:cxnSp>
        <p:nvCxnSpPr>
          <p:cNvPr id="58" name="Прямая со стрелкой 57"/>
          <p:cNvCxnSpPr>
            <a:stCxn id="22" idx="3"/>
            <a:endCxn id="26" idx="1"/>
          </p:cNvCxnSpPr>
          <p:nvPr/>
        </p:nvCxnSpPr>
        <p:spPr>
          <a:xfrm>
            <a:off x="12201525" y="4305300"/>
            <a:ext cx="247650" cy="0"/>
          </a:xfrm>
          <a:prstGeom prst="straightConnector1">
            <a:avLst/>
          </a:prstGeom>
          <a:ln w="19050">
            <a:solidFill>
              <a:srgbClr val="9A8FFA"/>
            </a:solidFill>
            <a:tailEnd type="triangle" w="sm" len="sm"/>
          </a:ln>
        </p:spPr>
      </p:cxn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4745806E-5171-430D-B8A4-759F8656AAD7}"/>
              </a:ext>
            </a:extLst>
          </p:cNvPr>
          <p:cNvSpPr>
            <a:spLocks noGrp="1"/>
          </p:cNvSpPr>
          <p:nvPr/>
        </p:nvSpPr>
        <p:spPr>
          <a:xfrm>
            <a:off x="685800" y="5886450"/>
            <a:ext cx="13144500" cy="1162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35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Адаптируем существующую модель</a:t>
            </a:r>
          </a:p>
          <a:p>
            <a:pPr algn="l">
              <a:defRPr sz="35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под российские поездки</a:t>
            </a: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D04A917B-2DF7-4C91-9E99-3D9C0E72F59A}"/>
              </a:ext>
            </a:extLst>
          </p:cNvPr>
          <p:cNvSpPr>
            <a:spLocks noGrp="1"/>
          </p:cNvSpPr>
          <p:nvPr/>
        </p:nvSpPr>
        <p:spPr>
          <a:xfrm>
            <a:off x="685800" y="7400925"/>
            <a:ext cx="138684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425" b="0">
                <a:solidFill>
                  <a:srgbClr val="B2B5D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B2B5D5"/>
                </a:solidFill>
                <a:latin typeface="Helvetica Neue"/>
                <a:ea typeface="Helvetica Neue"/>
                <a:cs typeface="Helvetica Neue"/>
              </a:rPr>
              <a:t>Не создаём новый формат. Делаем его доступным в привычной среде MAX.</a:t>
            </a:r>
          </a:p>
        </p:txBody>
      </p:sp>
    </p:spTree>
    <p:extLst>
      <p:ext uri="{BB962C8B-B14F-4D97-AF65-F5344CB8AC3E}">
        <p14:creationId xmlns:p14="http://schemas.microsoft.com/office/powerpoint/2010/main" val="343008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6071C"/>
            </a:gs>
            <a:gs pos="58000">
              <a:srgbClr val="090B27"/>
            </a:gs>
            <a:gs pos="100000">
              <a:srgbClr val="14104F"/>
            </a:gs>
          </a:gsLst>
          <a:lin ang="15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9BB1F3C9-440C-460E-87A4-C7D78A9C5F77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23825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350" b="1">
                <a:solidFill>
                  <a:srgbClr val="BE91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BE91D9"/>
                </a:solidFill>
                <a:latin typeface="Helvetica Neue"/>
                <a:ea typeface="Helvetica Neue"/>
                <a:cs typeface="Helvetica Neue"/>
              </a:rPr>
              <a:t>ДЕМО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691CCD0-6693-4053-8D45-310D91DC0297}"/>
              </a:ext>
            </a:extLst>
          </p:cNvPr>
          <p:cNvSpPr>
            <a:spLocks noGrp="1"/>
          </p:cNvSpPr>
          <p:nvPr/>
        </p:nvSpPr>
        <p:spPr>
          <a:xfrm>
            <a:off x="685800" y="904875"/>
            <a:ext cx="13868400" cy="1428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Как работает пользовательский сценарий</a:t>
            </a:r>
          </a:p>
        </p:txBody>
      </p:sp>
      <p:sp>
        <p:nv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D30E62CA-DD27-4254-99B7-34A48286EE2A}"/>
              </a:ext>
            </a:extLst>
          </p:cNvPr>
          <p:cNvSpPr>
            <a:spLocks noGrp="1"/>
          </p:cNvSpPr>
          <p:nvPr/>
        </p:nvSpPr>
        <p:spPr>
          <a:xfrm>
            <a:off x="685800" y="8001000"/>
            <a:ext cx="13868400" cy="0"/>
          </a:xfrm>
          <a:prstGeom prst="line">
            <a:avLst/>
          </a:prstGeom>
          <a:noFill/>
          <a:ln w="9525">
            <a:solidFill>
              <a:srgbClr val="FFFFFF">
                <a:alpha val="12000"/>
              </a:srgbClr>
            </a:solidFill>
          </a:ln>
        </p:spPr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F99A4B4-652C-48DD-B86A-58FF1A268B37}"/>
              </a:ext>
            </a:extLst>
          </p:cNvPr>
          <p:cNvSpPr>
            <a:spLocks noGrp="1"/>
          </p:cNvSpPr>
          <p:nvPr/>
        </p:nvSpPr>
        <p:spPr>
          <a:xfrm>
            <a:off x="685800" y="8153400"/>
            <a:ext cx="80962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125" b="0">
                <a:solidFill>
                  <a:srgbClr val="B2B5D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B2B5D5"/>
                </a:solidFill>
                <a:latin typeface="Helvetica Neue"/>
                <a:ea typeface="Helvetica Neue"/>
                <a:cs typeface="Helvetica Neue"/>
              </a:rPr>
              <a:t>HOSPITALITY EXCHANGE / MAX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CE2B7AD3-2A22-412D-9552-7AD36B603B17}"/>
              </a:ext>
            </a:extLst>
          </p:cNvPr>
          <p:cNvSpPr>
            <a:spLocks noGrp="1"/>
          </p:cNvSpPr>
          <p:nvPr/>
        </p:nvSpPr>
        <p:spPr>
          <a:xfrm>
            <a:off x="13887450" y="8115300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500" b="0">
                <a:solidFill>
                  <a:srgbClr val="B2B5D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B2B5D5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5E18DF23-7236-4A43-8617-422CE7C44CC2}"/>
              </a:ext>
            </a:extLst>
          </p:cNvPr>
          <p:cNvSpPr>
            <a:spLocks noGrp="1"/>
          </p:cNvSpPr>
          <p:nvPr/>
        </p:nvSpPr>
        <p:spPr>
          <a:xfrm>
            <a:off x="685800" y="2295525"/>
            <a:ext cx="31432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75" b="1">
                <a:solidFill>
                  <a:srgbClr val="BE91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BE91D9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0ADE55F5-85BC-49C8-960B-22FB06A41F04}"/>
              </a:ext>
            </a:extLst>
          </p:cNvPr>
          <p:cNvSpPr>
            <a:spLocks noGrp="1"/>
          </p:cNvSpPr>
          <p:nvPr/>
        </p:nvSpPr>
        <p:spPr>
          <a:xfrm>
            <a:off x="685800" y="2733675"/>
            <a:ext cx="3143250" cy="828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Поиск города</a:t>
            </a:r>
          </a:p>
          <a:p>
            <a:pPr algn="l">
              <a:def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и дат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583B7F64-D3FC-42B0-A810-64460593CC24}"/>
              </a:ext>
            </a:extLst>
          </p:cNvPr>
          <p:cNvSpPr>
            <a:spLocks noGrp="1"/>
          </p:cNvSpPr>
          <p:nvPr/>
        </p:nvSpPr>
        <p:spPr>
          <a:xfrm>
            <a:off x="685800" y="3762375"/>
            <a:ext cx="3067050" cy="3476625"/>
          </a:xfrm>
          <a:prstGeom prst="roundRect">
            <a:avLst>
              <a:gd name="adj" fmla="val 7453"/>
            </a:avLst>
          </a:prstGeom>
          <a:gradFill>
            <a:gsLst>
              <a:gs pos="0">
                <a:srgbClr val="25255A">
                  <a:alpha val="80000"/>
                </a:srgbClr>
              </a:gs>
              <a:gs pos="100000">
                <a:srgbClr val="14102F">
                  <a:alpha val="75000"/>
                </a:srgbClr>
              </a:gs>
            </a:gsLst>
            <a:lin ang="7800000"/>
          </a:gradFill>
          <a:ln w="9525">
            <a:solidFill>
              <a:srgbClr val="B7B5F0">
                <a:alpha val="20000"/>
              </a:srgbClr>
            </a:solidFill>
          </a:ln>
        </p:spPr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B02C2D0B-594C-4FB6-A6A6-71E47F1B8631}"/>
              </a:ext>
            </a:extLst>
          </p:cNvPr>
          <p:cNvSpPr>
            <a:spLocks noGrp="1"/>
          </p:cNvSpPr>
          <p:nvPr/>
        </p:nvSpPr>
        <p:spPr>
          <a:xfrm>
            <a:off x="847725" y="3924300"/>
            <a:ext cx="2743200" cy="3152775"/>
          </a:xfrm>
          <a:prstGeom prst="roundRect">
            <a:avLst>
              <a:gd name="adj" fmla="val 5556"/>
            </a:avLst>
          </a:prstGeom>
          <a:solidFill>
            <a:srgbClr val="06071C">
              <a:alpha val="65000"/>
            </a:srgbClr>
          </a:solidFill>
          <a:ln w="9525">
            <a:solidFill>
              <a:srgbClr val="B7B5F0">
                <a:alpha val="16000"/>
              </a:srgbClr>
            </a:solidFill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F614E45C-A404-47F7-821C-BF5BD7C7A7E6}"/>
              </a:ext>
            </a:extLst>
          </p:cNvPr>
          <p:cNvSpPr>
            <a:spLocks noGrp="1"/>
          </p:cNvSpPr>
          <p:nvPr/>
        </p:nvSpPr>
        <p:spPr>
          <a:xfrm>
            <a:off x="1057275" y="5200650"/>
            <a:ext cx="2333625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2025" b="0">
                <a:solidFill>
                  <a:srgbClr val="777C9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777C9F"/>
                </a:solidFill>
                <a:latin typeface="Helvetica Neue"/>
                <a:ea typeface="Helvetica Neue"/>
                <a:cs typeface="Helvetica Neue"/>
              </a:rPr>
              <a:t>Место для</a:t>
            </a:r>
          </a:p>
          <a:p>
            <a:pPr algn="ctr">
              <a:defRPr sz="2025" b="0">
                <a:solidFill>
                  <a:srgbClr val="777C9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777C9F"/>
                </a:solidFill>
                <a:latin typeface="Helvetica Neue"/>
                <a:ea typeface="Helvetica Neue"/>
                <a:cs typeface="Helvetica Neue"/>
              </a:rPr>
              <a:t>скриншота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29CAFD98-4ED6-40D0-B0E2-E122F290A278}"/>
              </a:ext>
            </a:extLst>
          </p:cNvPr>
          <p:cNvSpPr>
            <a:spLocks noGrp="1"/>
          </p:cNvSpPr>
          <p:nvPr/>
        </p:nvSpPr>
        <p:spPr>
          <a:xfrm>
            <a:off x="3857625" y="5286375"/>
            <a:ext cx="3524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400" b="0">
                <a:solidFill>
                  <a:srgbClr val="BE91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BE91D9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39373F62-311D-4AD8-8EA9-DBDDD956AF80}"/>
              </a:ext>
            </a:extLst>
          </p:cNvPr>
          <p:cNvSpPr>
            <a:spLocks noGrp="1"/>
          </p:cNvSpPr>
          <p:nvPr/>
        </p:nvSpPr>
        <p:spPr>
          <a:xfrm>
            <a:off x="4286250" y="2295525"/>
            <a:ext cx="31432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75" b="1">
                <a:solidFill>
                  <a:srgbClr val="BE91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BE91D9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9E8DBBB8-CAEF-40C6-90E4-4637C4D03900}"/>
              </a:ext>
            </a:extLst>
          </p:cNvPr>
          <p:cNvSpPr>
            <a:spLocks noGrp="1"/>
          </p:cNvSpPr>
          <p:nvPr/>
        </p:nvSpPr>
        <p:spPr>
          <a:xfrm>
            <a:off x="4286250" y="2733675"/>
            <a:ext cx="3143250" cy="828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Карточка</a:t>
            </a:r>
          </a:p>
          <a:p>
            <a:pPr algn="l">
              <a:def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хозяина</a:t>
            </a: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BCFDE93C-C325-4A9A-B17F-DE983D3360C8}"/>
              </a:ext>
            </a:extLst>
          </p:cNvPr>
          <p:cNvSpPr>
            <a:spLocks noGrp="1"/>
          </p:cNvSpPr>
          <p:nvPr/>
        </p:nvSpPr>
        <p:spPr>
          <a:xfrm>
            <a:off x="4286250" y="3762375"/>
            <a:ext cx="3067050" cy="3476625"/>
          </a:xfrm>
          <a:prstGeom prst="roundRect">
            <a:avLst>
              <a:gd name="adj" fmla="val 7453"/>
            </a:avLst>
          </a:prstGeom>
          <a:gradFill>
            <a:gsLst>
              <a:gs pos="0">
                <a:srgbClr val="25255A">
                  <a:alpha val="80000"/>
                </a:srgbClr>
              </a:gs>
              <a:gs pos="100000">
                <a:srgbClr val="14102F">
                  <a:alpha val="75000"/>
                </a:srgbClr>
              </a:gs>
            </a:gsLst>
            <a:lin ang="7800000"/>
          </a:gradFill>
          <a:ln w="9525">
            <a:solidFill>
              <a:srgbClr val="B7B5F0">
                <a:alpha val="20000"/>
              </a:srgbClr>
            </a:solidFill>
          </a:ln>
        </p:spPr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F77AAB22-857B-4E75-AC31-FFF48EFC0A4B}"/>
              </a:ext>
            </a:extLst>
          </p:cNvPr>
          <p:cNvSpPr>
            <a:spLocks noGrp="1"/>
          </p:cNvSpPr>
          <p:nvPr/>
        </p:nvSpPr>
        <p:spPr>
          <a:xfrm>
            <a:off x="4448175" y="3924300"/>
            <a:ext cx="2743200" cy="3152775"/>
          </a:xfrm>
          <a:prstGeom prst="roundRect">
            <a:avLst>
              <a:gd name="adj" fmla="val 5556"/>
            </a:avLst>
          </a:prstGeom>
          <a:solidFill>
            <a:srgbClr val="06071C">
              <a:alpha val="65000"/>
            </a:srgbClr>
          </a:solidFill>
          <a:ln w="9525">
            <a:solidFill>
              <a:srgbClr val="B7B5F0">
                <a:alpha val="16000"/>
              </a:srgbClr>
            </a:solidFill>
          </a:ln>
        </p:spPr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37CDBA6D-9869-4D8A-955E-EF0FB7C8A210}"/>
              </a:ext>
            </a:extLst>
          </p:cNvPr>
          <p:cNvSpPr>
            <a:spLocks noGrp="1"/>
          </p:cNvSpPr>
          <p:nvPr/>
        </p:nvSpPr>
        <p:spPr>
          <a:xfrm>
            <a:off x="4657725" y="5200650"/>
            <a:ext cx="2333625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2025" b="0">
                <a:solidFill>
                  <a:srgbClr val="777C9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777C9F"/>
                </a:solidFill>
                <a:latin typeface="Helvetica Neue"/>
                <a:ea typeface="Helvetica Neue"/>
                <a:cs typeface="Helvetica Neue"/>
              </a:rPr>
              <a:t>Место для</a:t>
            </a:r>
          </a:p>
          <a:p>
            <a:pPr algn="ctr">
              <a:defRPr sz="2025" b="0">
                <a:solidFill>
                  <a:srgbClr val="777C9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777C9F"/>
                </a:solidFill>
                <a:latin typeface="Helvetica Neue"/>
                <a:ea typeface="Helvetica Neue"/>
                <a:cs typeface="Helvetica Neue"/>
              </a:rPr>
              <a:t>скриншота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F980F7DC-CA48-439F-921D-4F8398B1F420}"/>
              </a:ext>
            </a:extLst>
          </p:cNvPr>
          <p:cNvSpPr>
            <a:spLocks noGrp="1"/>
          </p:cNvSpPr>
          <p:nvPr/>
        </p:nvSpPr>
        <p:spPr>
          <a:xfrm>
            <a:off x="7458075" y="5286375"/>
            <a:ext cx="3524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400" b="0">
                <a:solidFill>
                  <a:srgbClr val="BE91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BE91D9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0F259348-1424-4B7E-A780-5A75CC9A6B55}"/>
              </a:ext>
            </a:extLst>
          </p:cNvPr>
          <p:cNvSpPr>
            <a:spLocks noGrp="1"/>
          </p:cNvSpPr>
          <p:nvPr/>
        </p:nvSpPr>
        <p:spPr>
          <a:xfrm>
            <a:off x="7886700" y="2295525"/>
            <a:ext cx="31432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75" b="1">
                <a:solidFill>
                  <a:srgbClr val="BE91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BE91D9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AA691FBC-D5E5-4F0A-852B-EA02CBB07D9F}"/>
              </a:ext>
            </a:extLst>
          </p:cNvPr>
          <p:cNvSpPr>
            <a:spLocks noGrp="1"/>
          </p:cNvSpPr>
          <p:nvPr/>
        </p:nvSpPr>
        <p:spPr>
          <a:xfrm>
            <a:off x="7886700" y="2733675"/>
            <a:ext cx="3143250" cy="828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Отправка</a:t>
            </a:r>
          </a:p>
          <a:p>
            <a:pPr algn="l">
              <a:def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запроса</a:t>
            </a:r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1CADED79-2E86-46E1-B313-41CE00A3F10C}"/>
              </a:ext>
            </a:extLst>
          </p:cNvPr>
          <p:cNvSpPr>
            <a:spLocks noGrp="1"/>
          </p:cNvSpPr>
          <p:nvPr/>
        </p:nvSpPr>
        <p:spPr>
          <a:xfrm>
            <a:off x="7886700" y="3762375"/>
            <a:ext cx="3067050" cy="3476625"/>
          </a:xfrm>
          <a:prstGeom prst="roundRect">
            <a:avLst>
              <a:gd name="adj" fmla="val 7453"/>
            </a:avLst>
          </a:prstGeom>
          <a:gradFill>
            <a:gsLst>
              <a:gs pos="0">
                <a:srgbClr val="25255A">
                  <a:alpha val="80000"/>
                </a:srgbClr>
              </a:gs>
              <a:gs pos="100000">
                <a:srgbClr val="14102F">
                  <a:alpha val="75000"/>
                </a:srgbClr>
              </a:gs>
            </a:gsLst>
            <a:lin ang="7800000"/>
          </a:gradFill>
          <a:ln w="9525">
            <a:solidFill>
              <a:srgbClr val="B7B5F0">
                <a:alpha val="20000"/>
              </a:srgbClr>
            </a:solidFill>
          </a:ln>
        </p:spPr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6FC66038-A4DB-4F95-BF5F-2905CF1F51B2}"/>
              </a:ext>
            </a:extLst>
          </p:cNvPr>
          <p:cNvSpPr>
            <a:spLocks noGrp="1"/>
          </p:cNvSpPr>
          <p:nvPr/>
        </p:nvSpPr>
        <p:spPr>
          <a:xfrm>
            <a:off x="8048625" y="3924300"/>
            <a:ext cx="2743200" cy="3152775"/>
          </a:xfrm>
          <a:prstGeom prst="roundRect">
            <a:avLst>
              <a:gd name="adj" fmla="val 5556"/>
            </a:avLst>
          </a:prstGeom>
          <a:solidFill>
            <a:srgbClr val="06071C">
              <a:alpha val="65000"/>
            </a:srgbClr>
          </a:solidFill>
          <a:ln w="9525">
            <a:solidFill>
              <a:srgbClr val="B7B5F0">
                <a:alpha val="16000"/>
              </a:srgbClr>
            </a:solidFill>
          </a:ln>
        </p:spPr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6F56EE20-80EC-4F94-93A8-555C881C6CD3}"/>
              </a:ext>
            </a:extLst>
          </p:cNvPr>
          <p:cNvSpPr>
            <a:spLocks noGrp="1"/>
          </p:cNvSpPr>
          <p:nvPr/>
        </p:nvSpPr>
        <p:spPr>
          <a:xfrm>
            <a:off x="8258175" y="5200650"/>
            <a:ext cx="2333625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2025" b="0">
                <a:solidFill>
                  <a:srgbClr val="777C9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777C9F"/>
                </a:solidFill>
                <a:latin typeface="Helvetica Neue"/>
                <a:ea typeface="Helvetica Neue"/>
                <a:cs typeface="Helvetica Neue"/>
              </a:rPr>
              <a:t>Место для</a:t>
            </a:r>
          </a:p>
          <a:p>
            <a:pPr algn="ctr">
              <a:defRPr sz="2025" b="0">
                <a:solidFill>
                  <a:srgbClr val="777C9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777C9F"/>
                </a:solidFill>
                <a:latin typeface="Helvetica Neue"/>
                <a:ea typeface="Helvetica Neue"/>
                <a:cs typeface="Helvetica Neue"/>
              </a:rPr>
              <a:t>скриншота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75872B6D-5B8D-43B2-8405-D4971DCFF2C5}"/>
              </a:ext>
            </a:extLst>
          </p:cNvPr>
          <p:cNvSpPr>
            <a:spLocks noGrp="1"/>
          </p:cNvSpPr>
          <p:nvPr/>
        </p:nvSpPr>
        <p:spPr>
          <a:xfrm>
            <a:off x="11058525" y="5286375"/>
            <a:ext cx="3524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400" b="0">
                <a:solidFill>
                  <a:srgbClr val="BE91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BE91D9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F9694CDB-A919-4872-8951-6352BE6D34D5}"/>
              </a:ext>
            </a:extLst>
          </p:cNvPr>
          <p:cNvSpPr>
            <a:spLocks noGrp="1"/>
          </p:cNvSpPr>
          <p:nvPr/>
        </p:nvSpPr>
        <p:spPr>
          <a:xfrm>
            <a:off x="11487150" y="2295525"/>
            <a:ext cx="31432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75" b="1">
                <a:solidFill>
                  <a:srgbClr val="BE91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BE91D9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2F5F589C-CD44-4729-AD4B-8DBAEE828153}"/>
              </a:ext>
            </a:extLst>
          </p:cNvPr>
          <p:cNvSpPr>
            <a:spLocks noGrp="1"/>
          </p:cNvSpPr>
          <p:nvPr/>
        </p:nvSpPr>
        <p:spPr>
          <a:xfrm>
            <a:off x="11487150" y="2733675"/>
            <a:ext cx="3143250" cy="828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Общение</a:t>
            </a:r>
          </a:p>
        </p:txBody>
      </p:sp>
      <p:sp>
        <p:nvSpPr>
          <p:cNvPr id="26" name="Прямоугольник: скругленные углы 25">
            <a:extLst>
              <a:ext uri="{FF2B5EF4-FFF2-40B4-BE49-F238E27FC236}">
                <a16:creationId xmlns:a16="http://schemas.microsoft.com/office/drawing/2014/main" id="{D514F71A-ECB3-4E98-878A-D8D30DDA69F3}"/>
              </a:ext>
            </a:extLst>
          </p:cNvPr>
          <p:cNvSpPr>
            <a:spLocks noGrp="1"/>
          </p:cNvSpPr>
          <p:nvPr/>
        </p:nvSpPr>
        <p:spPr>
          <a:xfrm>
            <a:off x="11487150" y="3762375"/>
            <a:ext cx="3067050" cy="3476625"/>
          </a:xfrm>
          <a:prstGeom prst="roundRect">
            <a:avLst>
              <a:gd name="adj" fmla="val 7453"/>
            </a:avLst>
          </a:prstGeom>
          <a:gradFill>
            <a:gsLst>
              <a:gs pos="0">
                <a:srgbClr val="25255A">
                  <a:alpha val="80000"/>
                </a:srgbClr>
              </a:gs>
              <a:gs pos="100000">
                <a:srgbClr val="14102F">
                  <a:alpha val="75000"/>
                </a:srgbClr>
              </a:gs>
            </a:gsLst>
            <a:lin ang="7800000"/>
          </a:gradFill>
          <a:ln w="9525">
            <a:solidFill>
              <a:srgbClr val="B7B5F0">
                <a:alpha val="20000"/>
              </a:srgbClr>
            </a:solidFill>
          </a:ln>
        </p:spPr>
      </p:sp>
      <p:sp>
        <p:nvSpPr>
          <p:cNvPr id="27" name="Прямоугольник: скругленные углы 26">
            <a:extLst>
              <a:ext uri="{FF2B5EF4-FFF2-40B4-BE49-F238E27FC236}">
                <a16:creationId xmlns:a16="http://schemas.microsoft.com/office/drawing/2014/main" id="{39FE77D7-8015-465F-B585-320DC82004A9}"/>
              </a:ext>
            </a:extLst>
          </p:cNvPr>
          <p:cNvSpPr>
            <a:spLocks noGrp="1"/>
          </p:cNvSpPr>
          <p:nvPr/>
        </p:nvSpPr>
        <p:spPr>
          <a:xfrm>
            <a:off x="11649075" y="3924300"/>
            <a:ext cx="2743200" cy="3152775"/>
          </a:xfrm>
          <a:prstGeom prst="roundRect">
            <a:avLst>
              <a:gd name="adj" fmla="val 5556"/>
            </a:avLst>
          </a:prstGeom>
          <a:solidFill>
            <a:srgbClr val="06071C">
              <a:alpha val="65000"/>
            </a:srgbClr>
          </a:solidFill>
          <a:ln w="9525">
            <a:solidFill>
              <a:srgbClr val="B7B5F0">
                <a:alpha val="16000"/>
              </a:srgbClr>
            </a:solidFill>
          </a:ln>
        </p:spPr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AB39729F-DABA-43BE-BA93-03E7A55ACDFF}"/>
              </a:ext>
            </a:extLst>
          </p:cNvPr>
          <p:cNvSpPr>
            <a:spLocks noGrp="1"/>
          </p:cNvSpPr>
          <p:nvPr/>
        </p:nvSpPr>
        <p:spPr>
          <a:xfrm>
            <a:off x="11858625" y="5200650"/>
            <a:ext cx="2333625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2025" b="0">
                <a:solidFill>
                  <a:srgbClr val="777C9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777C9F"/>
                </a:solidFill>
                <a:latin typeface="Helvetica Neue"/>
                <a:ea typeface="Helvetica Neue"/>
                <a:cs typeface="Helvetica Neue"/>
              </a:rPr>
              <a:t>Место для</a:t>
            </a:r>
          </a:p>
          <a:p>
            <a:pPr algn="ctr">
              <a:defRPr sz="2025" b="0">
                <a:solidFill>
                  <a:srgbClr val="777C9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777C9F"/>
                </a:solidFill>
                <a:latin typeface="Helvetica Neue"/>
                <a:ea typeface="Helvetica Neue"/>
                <a:cs typeface="Helvetica Neue"/>
              </a:rPr>
              <a:t>скриншота</a:t>
            </a:r>
          </a:p>
        </p:txBody>
      </p:sp>
    </p:spTree>
    <p:extLst>
      <p:ext uri="{BB962C8B-B14F-4D97-AF65-F5344CB8AC3E}">
        <p14:creationId xmlns:p14="http://schemas.microsoft.com/office/powerpoint/2010/main" val="8582699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6071C"/>
            </a:gs>
            <a:gs pos="58000">
              <a:srgbClr val="090B27"/>
            </a:gs>
            <a:gs pos="100000">
              <a:srgbClr val="14104F"/>
            </a:gs>
          </a:gsLst>
          <a:lin ang="15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60CD6206-687D-4442-B7B9-392D348EF0EE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23825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350" b="1">
                <a:solidFill>
                  <a:srgbClr val="BE91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BE91D9"/>
                </a:solidFill>
                <a:latin typeface="Helvetica Neue"/>
                <a:ea typeface="Helvetica Neue"/>
                <a:cs typeface="Helvetica Neue"/>
              </a:rPr>
              <a:t>ПРОДУКТ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ACD5AD7-B4AC-449C-B89E-DA1DDC2E89FE}"/>
              </a:ext>
            </a:extLst>
          </p:cNvPr>
          <p:cNvSpPr>
            <a:spLocks noGrp="1"/>
          </p:cNvSpPr>
          <p:nvPr/>
        </p:nvSpPr>
        <p:spPr>
          <a:xfrm>
            <a:off x="685800" y="904875"/>
            <a:ext cx="13868400" cy="1428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Архитектура MVP</a:t>
            </a:r>
          </a:p>
        </p:txBody>
      </p:sp>
      <p:sp>
        <p:nv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14278D81-22CB-47A2-A014-DD93AE21C7DD}"/>
              </a:ext>
            </a:extLst>
          </p:cNvPr>
          <p:cNvSpPr>
            <a:spLocks noGrp="1"/>
          </p:cNvSpPr>
          <p:nvPr/>
        </p:nvSpPr>
        <p:spPr>
          <a:xfrm>
            <a:off x="685800" y="8001000"/>
            <a:ext cx="13868400" cy="0"/>
          </a:xfrm>
          <a:prstGeom prst="line">
            <a:avLst/>
          </a:prstGeom>
          <a:noFill/>
          <a:ln w="9525">
            <a:solidFill>
              <a:srgbClr val="FFFFFF">
                <a:alpha val="12000"/>
              </a:srgbClr>
            </a:solidFill>
          </a:ln>
        </p:spPr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8F9D75F-5B72-41D0-91CC-CBE8DF576E9B}"/>
              </a:ext>
            </a:extLst>
          </p:cNvPr>
          <p:cNvSpPr>
            <a:spLocks noGrp="1"/>
          </p:cNvSpPr>
          <p:nvPr/>
        </p:nvSpPr>
        <p:spPr>
          <a:xfrm>
            <a:off x="685800" y="8153400"/>
            <a:ext cx="80962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125" b="0">
                <a:solidFill>
                  <a:srgbClr val="B2B5D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B2B5D5"/>
                </a:solidFill>
                <a:latin typeface="Helvetica Neue"/>
                <a:ea typeface="Helvetica Neue"/>
                <a:cs typeface="Helvetica Neue"/>
              </a:rPr>
              <a:t>HOSPITALITY EXCHANGE / MAX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97C284C8-18B1-4507-AD87-FA47723A5B5C}"/>
              </a:ext>
            </a:extLst>
          </p:cNvPr>
          <p:cNvSpPr>
            <a:spLocks noGrp="1"/>
          </p:cNvSpPr>
          <p:nvPr/>
        </p:nvSpPr>
        <p:spPr>
          <a:xfrm>
            <a:off x="13887450" y="8115300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500" b="0">
                <a:solidFill>
                  <a:srgbClr val="B2B5D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B2B5D5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A33783B9-CA94-4E61-9372-EE824F8953DD}"/>
              </a:ext>
            </a:extLst>
          </p:cNvPr>
          <p:cNvSpPr>
            <a:spLocks noGrp="1"/>
          </p:cNvSpPr>
          <p:nvPr/>
        </p:nvSpPr>
        <p:spPr>
          <a:xfrm>
            <a:off x="685800" y="2333625"/>
            <a:ext cx="9239250" cy="4972050"/>
          </a:xfrm>
          <a:prstGeom prst="roundRect">
            <a:avLst>
              <a:gd name="adj" fmla="val 4598"/>
            </a:avLst>
          </a:prstGeom>
          <a:solidFill>
            <a:srgbClr val="101230">
              <a:alpha val="55000"/>
            </a:srgbClr>
          </a:solidFill>
          <a:ln w="9525">
            <a:solidFill>
              <a:srgbClr val="6C70A7">
                <a:alpha val="35000"/>
              </a:srgbClr>
            </a:solidFill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3AD818CD-6C99-4FFA-897F-6701D4330AA8}"/>
              </a:ext>
            </a:extLst>
          </p:cNvPr>
          <p:cNvSpPr>
            <a:spLocks noGrp="1"/>
          </p:cNvSpPr>
          <p:nvPr/>
        </p:nvSpPr>
        <p:spPr>
          <a:xfrm>
            <a:off x="952500" y="2514600"/>
            <a:ext cx="7429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350" b="1">
                <a:solidFill>
                  <a:srgbClr val="B2B5D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B2B5D5"/>
                </a:solidFill>
                <a:latin typeface="Helvetica Neue"/>
                <a:ea typeface="Helvetica Neue"/>
                <a:cs typeface="Helvetica Neue"/>
              </a:rPr>
              <a:t>DOCKER COMPOSE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339ADE8B-75FE-4CAE-B202-CC933A3C41A2}"/>
              </a:ext>
            </a:extLst>
          </p:cNvPr>
          <p:cNvSpPr>
            <a:spLocks noGrp="1"/>
          </p:cNvSpPr>
          <p:nvPr/>
        </p:nvSpPr>
        <p:spPr>
          <a:xfrm>
            <a:off x="10429875" y="2438400"/>
            <a:ext cx="4124325" cy="685800"/>
          </a:xfrm>
          <a:prstGeom prst="roundRect">
            <a:avLst>
              <a:gd name="adj" fmla="val 33333"/>
            </a:avLst>
          </a:prstGeom>
          <a:gradFill>
            <a:gsLst>
              <a:gs pos="0">
                <a:srgbClr val="374AF3"/>
              </a:gs>
              <a:gs pos="48000">
                <a:srgbClr val="554DDE"/>
              </a:gs>
              <a:gs pos="100000">
                <a:srgbClr val="62047B"/>
              </a:gs>
            </a:gsLst>
            <a:lin ang="1500000"/>
          </a:gradFill>
          <a:ln w="9525">
            <a:solidFill>
              <a:srgbClr val="8C82F4">
                <a:alpha val="70000"/>
              </a:srgbClr>
            </a:solidFill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EA6E5451-E115-4120-8A21-F43B7ED07E20}"/>
              </a:ext>
            </a:extLst>
          </p:cNvPr>
          <p:cNvSpPr>
            <a:spLocks noGrp="1"/>
          </p:cNvSpPr>
          <p:nvPr/>
        </p:nvSpPr>
        <p:spPr>
          <a:xfrm>
            <a:off x="10620375" y="2619375"/>
            <a:ext cx="3743325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MAX / Browser</a:t>
            </a: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C484C50A-1A4F-4270-BE1C-98A9200CADC9}"/>
              </a:ext>
            </a:extLst>
          </p:cNvPr>
          <p:cNvSpPr>
            <a:spLocks noGrp="1"/>
          </p:cNvSpPr>
          <p:nvPr/>
        </p:nvSpPr>
        <p:spPr>
          <a:xfrm>
            <a:off x="6648450" y="3105150"/>
            <a:ext cx="2895600" cy="609600"/>
          </a:xfrm>
          <a:prstGeom prst="roundRect">
            <a:avLst>
              <a:gd name="adj" fmla="val 37500"/>
            </a:avLst>
          </a:prstGeom>
          <a:gradFill>
            <a:gsLst>
              <a:gs pos="0">
                <a:srgbClr val="25255A">
                  <a:alpha val="80000"/>
                </a:srgbClr>
              </a:gs>
              <a:gs pos="100000">
                <a:srgbClr val="14102F">
                  <a:alpha val="75000"/>
                </a:srgbClr>
              </a:gs>
            </a:gsLst>
            <a:lin ang="7800000"/>
          </a:gradFill>
          <a:ln w="9525">
            <a:solidFill>
              <a:srgbClr val="B7B5F0">
                <a:alpha val="20000"/>
              </a:srgbClr>
            </a:solidFill>
          </a:ln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34FA7025-9A4D-411A-B65A-B5E1C2F782AB}"/>
              </a:ext>
            </a:extLst>
          </p:cNvPr>
          <p:cNvSpPr>
            <a:spLocks noGrp="1"/>
          </p:cNvSpPr>
          <p:nvPr/>
        </p:nvSpPr>
        <p:spPr>
          <a:xfrm>
            <a:off x="6838950" y="3286125"/>
            <a:ext cx="25146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Nginx</a:t>
            </a:r>
          </a:p>
        </p:txBody>
      </p:sp>
      <p:cxnSp>
        <p:nvCxnSpPr>
          <p:cNvPr id="45" name="Прямая со стрелкой 44"/>
          <p:cNvCxnSpPr>
            <a:stCxn id="8" idx="1"/>
            <a:endCxn id="10" idx="3"/>
          </p:cNvCxnSpPr>
          <p:nvPr/>
        </p:nvCxnSpPr>
        <p:spPr>
          <a:xfrm flipH="1">
            <a:off x="9544050" y="2781300"/>
            <a:ext cx="885825" cy="628650"/>
          </a:xfrm>
          <a:prstGeom prst="straightConnector1">
            <a:avLst/>
          </a:prstGeom>
          <a:ln w="19050">
            <a:solidFill>
              <a:srgbClr val="9A8FFA"/>
            </a:solidFill>
            <a:tailEnd type="triangle" w="sm" len="sm"/>
          </a:ln>
        </p:spPr>
      </p:cxn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2DBA46B9-E33F-4996-843D-D4690373DCD5}"/>
              </a:ext>
            </a:extLst>
          </p:cNvPr>
          <p:cNvSpPr>
            <a:spLocks noGrp="1"/>
          </p:cNvSpPr>
          <p:nvPr/>
        </p:nvSpPr>
        <p:spPr>
          <a:xfrm>
            <a:off x="1085850" y="3095625"/>
            <a:ext cx="4953000" cy="942975"/>
          </a:xfrm>
          <a:prstGeom prst="roundRect">
            <a:avLst>
              <a:gd name="adj" fmla="val 24242"/>
            </a:avLst>
          </a:prstGeom>
          <a:gradFill>
            <a:gsLst>
              <a:gs pos="0">
                <a:srgbClr val="25255A">
                  <a:alpha val="80000"/>
                </a:srgbClr>
              </a:gs>
              <a:gs pos="100000">
                <a:srgbClr val="14102F">
                  <a:alpha val="75000"/>
                </a:srgbClr>
              </a:gs>
            </a:gsLst>
            <a:lin ang="7800000"/>
          </a:gradFill>
          <a:ln w="9525">
            <a:solidFill>
              <a:srgbClr val="B7B5F0">
                <a:alpha val="20000"/>
              </a:srgbClr>
            </a:solidFill>
          </a:ln>
        </p:spPr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EE466FFC-3AB0-4CE9-A557-0074374510D7}"/>
              </a:ext>
            </a:extLst>
          </p:cNvPr>
          <p:cNvSpPr>
            <a:spLocks noGrp="1"/>
          </p:cNvSpPr>
          <p:nvPr/>
        </p:nvSpPr>
        <p:spPr>
          <a:xfrm>
            <a:off x="1276350" y="3276600"/>
            <a:ext cx="4572000" cy="676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React + TypeScript + Vite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84507CF1-11C9-4D93-B820-4A711319D79A}"/>
              </a:ext>
            </a:extLst>
          </p:cNvPr>
          <p:cNvSpPr>
            <a:spLocks noGrp="1"/>
          </p:cNvSpPr>
          <p:nvPr/>
        </p:nvSpPr>
        <p:spPr>
          <a:xfrm>
            <a:off x="1285875" y="3648075"/>
            <a:ext cx="4524375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1500" b="0">
                <a:solidFill>
                  <a:srgbClr val="B2B5D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B2B5D5"/>
                </a:solidFill>
                <a:latin typeface="Helvetica Neue"/>
                <a:ea typeface="Helvetica Neue"/>
                <a:cs typeface="Helvetica Neue"/>
              </a:rPr>
              <a:t>MAX mini-app + Web</a:t>
            </a:r>
          </a:p>
        </p:txBody>
      </p:sp>
      <p:cxnSp>
        <p:nvCxnSpPr>
          <p:cNvPr id="49" name="Прямая со стрелкой 48"/>
          <p:cNvCxnSpPr>
            <a:stCxn id="10" idx="1"/>
            <a:endCxn id="13" idx="3"/>
          </p:cNvCxnSpPr>
          <p:nvPr/>
        </p:nvCxnSpPr>
        <p:spPr>
          <a:xfrm flipH="1">
            <a:off x="6038850" y="3409950"/>
            <a:ext cx="609600" cy="157163"/>
          </a:xfrm>
          <a:prstGeom prst="straightConnector1">
            <a:avLst/>
          </a:prstGeom>
          <a:ln w="19050">
            <a:solidFill>
              <a:srgbClr val="9A8FFA"/>
            </a:solidFill>
            <a:tailEnd type="triangle" w="sm" len="sm"/>
          </a:ln>
        </p:spPr>
      </p:cxn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7296C96B-DF92-4551-8565-986A1A8B975A}"/>
              </a:ext>
            </a:extLst>
          </p:cNvPr>
          <p:cNvSpPr>
            <a:spLocks noGrp="1"/>
          </p:cNvSpPr>
          <p:nvPr/>
        </p:nvSpPr>
        <p:spPr>
          <a:xfrm>
            <a:off x="1085850" y="4695825"/>
            <a:ext cx="4953000" cy="742950"/>
          </a:xfrm>
          <a:prstGeom prst="roundRect">
            <a:avLst>
              <a:gd name="adj" fmla="val 30769"/>
            </a:avLst>
          </a:prstGeom>
          <a:gradFill>
            <a:gsLst>
              <a:gs pos="0">
                <a:srgbClr val="374AF3"/>
              </a:gs>
              <a:gs pos="48000">
                <a:srgbClr val="554DDE"/>
              </a:gs>
              <a:gs pos="100000">
                <a:srgbClr val="62047B"/>
              </a:gs>
            </a:gsLst>
            <a:lin ang="1500000"/>
          </a:gradFill>
          <a:ln w="9525">
            <a:solidFill>
              <a:srgbClr val="8C82F4">
                <a:alpha val="70000"/>
              </a:srgbClr>
            </a:solidFill>
          </a:ln>
        </p:spPr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806B8E79-FD11-484A-AC30-8750B82D5DA3}"/>
              </a:ext>
            </a:extLst>
          </p:cNvPr>
          <p:cNvSpPr>
            <a:spLocks noGrp="1"/>
          </p:cNvSpPr>
          <p:nvPr/>
        </p:nvSpPr>
        <p:spPr>
          <a:xfrm>
            <a:off x="1276350" y="4876800"/>
            <a:ext cx="45720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FastAPI Backend</a:t>
            </a:r>
          </a:p>
        </p:txBody>
      </p:sp>
      <p:cxnSp>
        <p:nvCxnSpPr>
          <p:cNvPr id="52" name="Прямая со стрелкой 51"/>
          <p:cNvCxnSpPr>
            <a:stCxn id="13" idx="2"/>
            <a:endCxn id="17" idx="0"/>
          </p:cNvCxnSpPr>
          <p:nvPr/>
        </p:nvCxnSpPr>
        <p:spPr>
          <a:xfrm>
            <a:off x="3562350" y="4038600"/>
            <a:ext cx="0" cy="657225"/>
          </a:xfrm>
          <a:prstGeom prst="straightConnector1">
            <a:avLst/>
          </a:prstGeom>
          <a:ln w="19050">
            <a:solidFill>
              <a:srgbClr val="9A8FFA"/>
            </a:solidFill>
            <a:tailEnd type="triangle" w="sm" len="sm"/>
          </a:ln>
        </p:spPr>
      </p:cxn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94333A77-2CDC-42C4-BFF9-4E292961C762}"/>
              </a:ext>
            </a:extLst>
          </p:cNvPr>
          <p:cNvSpPr>
            <a:spLocks noGrp="1"/>
          </p:cNvSpPr>
          <p:nvPr/>
        </p:nvSpPr>
        <p:spPr>
          <a:xfrm>
            <a:off x="1085850" y="6229350"/>
            <a:ext cx="4953000" cy="704850"/>
          </a:xfrm>
          <a:prstGeom prst="roundRect">
            <a:avLst>
              <a:gd name="adj" fmla="val 32432"/>
            </a:avLst>
          </a:prstGeom>
          <a:gradFill>
            <a:gsLst>
              <a:gs pos="0">
                <a:srgbClr val="25255A">
                  <a:alpha val="80000"/>
                </a:srgbClr>
              </a:gs>
              <a:gs pos="100000">
                <a:srgbClr val="14102F">
                  <a:alpha val="75000"/>
                </a:srgbClr>
              </a:gs>
            </a:gsLst>
            <a:lin ang="7800000"/>
          </a:gradFill>
          <a:ln w="9525">
            <a:solidFill>
              <a:srgbClr val="B7B5F0">
                <a:alpha val="20000"/>
              </a:srgbClr>
            </a:solidFill>
          </a:ln>
        </p:spPr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1A8A7576-A197-42A2-ADDB-6D5C6A30AD98}"/>
              </a:ext>
            </a:extLst>
          </p:cNvPr>
          <p:cNvSpPr>
            <a:spLocks noGrp="1"/>
          </p:cNvSpPr>
          <p:nvPr/>
        </p:nvSpPr>
        <p:spPr>
          <a:xfrm>
            <a:off x="1276350" y="6410325"/>
            <a:ext cx="457200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PostgreSQL</a:t>
            </a:r>
          </a:p>
        </p:txBody>
      </p:sp>
      <p:cxnSp>
        <p:nvCxnSpPr>
          <p:cNvPr id="55" name="Прямая со стрелкой 54"/>
          <p:cNvCxnSpPr>
            <a:stCxn id="17" idx="2"/>
            <a:endCxn id="20" idx="0"/>
          </p:cNvCxnSpPr>
          <p:nvPr/>
        </p:nvCxnSpPr>
        <p:spPr>
          <a:xfrm>
            <a:off x="3562350" y="5438775"/>
            <a:ext cx="0" cy="790575"/>
          </a:xfrm>
          <a:prstGeom prst="straightConnector1">
            <a:avLst/>
          </a:prstGeom>
          <a:ln w="19050">
            <a:solidFill>
              <a:srgbClr val="9A8FFA"/>
            </a:solidFill>
            <a:tailEnd type="triangle" w="sm" len="sm"/>
          </a:ln>
        </p:spPr>
      </p:cxnSp>
      <p:sp>
        <p:nvSpPr>
          <p:cNvPr id="23" name="Прямоугольник: скругленные углы 22">
            <a:extLst>
              <a:ext uri="{FF2B5EF4-FFF2-40B4-BE49-F238E27FC236}">
                <a16:creationId xmlns:a16="http://schemas.microsoft.com/office/drawing/2014/main" id="{4B30C078-9974-4DC7-AF3F-421638DB07C1}"/>
              </a:ext>
            </a:extLst>
          </p:cNvPr>
          <p:cNvSpPr>
            <a:spLocks noGrp="1"/>
          </p:cNvSpPr>
          <p:nvPr/>
        </p:nvSpPr>
        <p:spPr>
          <a:xfrm>
            <a:off x="10429875" y="4038600"/>
            <a:ext cx="4124325" cy="704850"/>
          </a:xfrm>
          <a:prstGeom prst="roundRect">
            <a:avLst>
              <a:gd name="adj" fmla="val 32432"/>
            </a:avLst>
          </a:prstGeom>
          <a:gradFill>
            <a:gsLst>
              <a:gs pos="0">
                <a:srgbClr val="25255A">
                  <a:alpha val="80000"/>
                </a:srgbClr>
              </a:gs>
              <a:gs pos="100000">
                <a:srgbClr val="14102F">
                  <a:alpha val="75000"/>
                </a:srgbClr>
              </a:gs>
            </a:gsLst>
            <a:lin ang="7800000"/>
          </a:gradFill>
          <a:ln w="9525">
            <a:solidFill>
              <a:srgbClr val="B7B5F0">
                <a:alpha val="20000"/>
              </a:srgbClr>
            </a:solidFill>
          </a:ln>
        </p:spPr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523D4A7F-67F9-4243-AD6D-056C98092A52}"/>
              </a:ext>
            </a:extLst>
          </p:cNvPr>
          <p:cNvSpPr>
            <a:spLocks noGrp="1"/>
          </p:cNvSpPr>
          <p:nvPr/>
        </p:nvSpPr>
        <p:spPr>
          <a:xfrm>
            <a:off x="10620375" y="4219575"/>
            <a:ext cx="37433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MAX Bot</a:t>
            </a:r>
          </a:p>
        </p:txBody>
      </p:sp>
      <p:sp>
        <p:nvSpPr>
          <p:cNvPr id="25" name="Прямоугольник: скругленные углы 24">
            <a:extLst>
              <a:ext uri="{FF2B5EF4-FFF2-40B4-BE49-F238E27FC236}">
                <a16:creationId xmlns:a16="http://schemas.microsoft.com/office/drawing/2014/main" id="{0C7F8097-1716-4D6C-91A4-40A9B6FAC296}"/>
              </a:ext>
            </a:extLst>
          </p:cNvPr>
          <p:cNvSpPr>
            <a:spLocks noGrp="1"/>
          </p:cNvSpPr>
          <p:nvPr/>
        </p:nvSpPr>
        <p:spPr>
          <a:xfrm>
            <a:off x="6619875" y="4695825"/>
            <a:ext cx="2952750" cy="952500"/>
          </a:xfrm>
          <a:prstGeom prst="roundRect">
            <a:avLst>
              <a:gd name="adj" fmla="val 24000"/>
            </a:avLst>
          </a:prstGeom>
          <a:gradFill>
            <a:gsLst>
              <a:gs pos="0">
                <a:srgbClr val="25255A">
                  <a:alpha val="80000"/>
                </a:srgbClr>
              </a:gs>
              <a:gs pos="100000">
                <a:srgbClr val="14102F">
                  <a:alpha val="75000"/>
                </a:srgbClr>
              </a:gs>
            </a:gsLst>
            <a:lin ang="7800000"/>
          </a:gradFill>
          <a:ln w="9525">
            <a:solidFill>
              <a:srgbClr val="B7B5F0">
                <a:alpha val="20000"/>
              </a:srgbClr>
            </a:solidFill>
          </a:ln>
        </p:spPr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3326C9BD-1170-42EC-896F-8AECFCBEC61C}"/>
              </a:ext>
            </a:extLst>
          </p:cNvPr>
          <p:cNvSpPr>
            <a:spLocks noGrp="1"/>
          </p:cNvSpPr>
          <p:nvPr/>
        </p:nvSpPr>
        <p:spPr>
          <a:xfrm>
            <a:off x="6810375" y="4876800"/>
            <a:ext cx="2571750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Notification Worker</a:t>
            </a:r>
          </a:p>
        </p:txBody>
      </p:sp>
      <p:sp>
        <p:nvSpPr>
          <p:cNvPr id="27" name="Прямоугольник: скругленные углы 26">
            <a:extLst>
              <a:ext uri="{FF2B5EF4-FFF2-40B4-BE49-F238E27FC236}">
                <a16:creationId xmlns:a16="http://schemas.microsoft.com/office/drawing/2014/main" id="{A5B0BD83-EE2E-4421-AD5B-34B762ADB4A1}"/>
              </a:ext>
            </a:extLst>
          </p:cNvPr>
          <p:cNvSpPr>
            <a:spLocks noGrp="1"/>
          </p:cNvSpPr>
          <p:nvPr/>
        </p:nvSpPr>
        <p:spPr>
          <a:xfrm>
            <a:off x="10429875" y="6229350"/>
            <a:ext cx="4124325" cy="704850"/>
          </a:xfrm>
          <a:prstGeom prst="roundRect">
            <a:avLst>
              <a:gd name="adj" fmla="val 32432"/>
            </a:avLst>
          </a:prstGeom>
          <a:gradFill>
            <a:gsLst>
              <a:gs pos="0">
                <a:srgbClr val="374AF3"/>
              </a:gs>
              <a:gs pos="48000">
                <a:srgbClr val="554DDE"/>
              </a:gs>
              <a:gs pos="100000">
                <a:srgbClr val="62047B"/>
              </a:gs>
            </a:gsLst>
            <a:lin ang="1500000"/>
          </a:gradFill>
          <a:ln w="9525">
            <a:solidFill>
              <a:srgbClr val="8C82F4">
                <a:alpha val="70000"/>
              </a:srgbClr>
            </a:solidFill>
          </a:ln>
        </p:spPr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45EC5E0D-7924-4C85-8705-DD83D0FCDB13}"/>
              </a:ext>
            </a:extLst>
          </p:cNvPr>
          <p:cNvSpPr>
            <a:spLocks noGrp="1"/>
          </p:cNvSpPr>
          <p:nvPr/>
        </p:nvSpPr>
        <p:spPr>
          <a:xfrm>
            <a:off x="10620375" y="6410325"/>
            <a:ext cx="37433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MAX Bot API</a:t>
            </a:r>
          </a:p>
        </p:txBody>
      </p:sp>
      <p:cxnSp>
        <p:nvCxnSpPr>
          <p:cNvPr id="62" name="Прямая со стрелкой 61"/>
          <p:cNvCxnSpPr>
            <a:stCxn id="23" idx="1"/>
            <a:endCxn id="25" idx="3"/>
          </p:cNvCxnSpPr>
          <p:nvPr/>
        </p:nvCxnSpPr>
        <p:spPr>
          <a:xfrm flipH="1">
            <a:off x="9572625" y="4391025"/>
            <a:ext cx="857250" cy="781050"/>
          </a:xfrm>
          <a:prstGeom prst="straightConnector1">
            <a:avLst/>
          </a:prstGeom>
          <a:ln w="19050">
            <a:solidFill>
              <a:srgbClr val="9A8FFA"/>
            </a:solidFill>
            <a:tailEnd type="triangle" w="sm" len="sm"/>
          </a:ln>
        </p:spPr>
      </p:cxnSp>
      <p:cxnSp>
        <p:nvCxnSpPr>
          <p:cNvPr id="63" name="Прямая со стрелкой 62"/>
          <p:cNvCxnSpPr>
            <a:stCxn id="25" idx="3"/>
            <a:endCxn id="27" idx="1"/>
          </p:cNvCxnSpPr>
          <p:nvPr/>
        </p:nvCxnSpPr>
        <p:spPr>
          <a:xfrm>
            <a:off x="9572625" y="5172075"/>
            <a:ext cx="857250" cy="1409700"/>
          </a:xfrm>
          <a:prstGeom prst="straightConnector1">
            <a:avLst/>
          </a:prstGeom>
          <a:ln w="19050">
            <a:solidFill>
              <a:srgbClr val="9A8FFA"/>
            </a:solidFill>
            <a:tailEnd type="triangle" w="sm" len="sm"/>
          </a:ln>
        </p:spPr>
      </p:cxnSp>
      <p:cxnSp>
        <p:nvCxnSpPr>
          <p:cNvPr id="64" name="Прямая со стрелкой 63"/>
          <p:cNvCxnSpPr>
            <a:stCxn id="17" idx="3"/>
            <a:endCxn id="25" idx="1"/>
          </p:cNvCxnSpPr>
          <p:nvPr/>
        </p:nvCxnSpPr>
        <p:spPr>
          <a:xfrm>
            <a:off x="6038850" y="5067300"/>
            <a:ext cx="581025" cy="104775"/>
          </a:xfrm>
          <a:prstGeom prst="straightConnector1">
            <a:avLst/>
          </a:prstGeom>
          <a:ln w="19050">
            <a:solidFill>
              <a:srgbClr val="9A8FFA"/>
            </a:solidFill>
            <a:tailEnd type="triangle" w="sm" len="sm"/>
          </a:ln>
        </p:spPr>
      </p:cxnSp>
      <p:cxnSp>
        <p:nvCxnSpPr>
          <p:cNvPr id="65" name="Прямая со стрелкой 64"/>
          <p:cNvCxnSpPr>
            <a:stCxn id="23" idx="2"/>
            <a:endCxn id="27" idx="0"/>
          </p:cNvCxnSpPr>
          <p:nvPr/>
        </p:nvCxnSpPr>
        <p:spPr>
          <a:xfrm>
            <a:off x="12492038" y="4743450"/>
            <a:ext cx="0" cy="1485900"/>
          </a:xfrm>
          <a:prstGeom prst="straightConnector1">
            <a:avLst/>
          </a:prstGeom>
          <a:ln w="19050">
            <a:solidFill>
              <a:srgbClr val="9A8FFA"/>
            </a:solidFill>
            <a:tailEnd type="triangle" w="sm" len="sm"/>
          </a:ln>
        </p:spPr>
      </p:cxn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8B3BDA11-3C0D-49D1-8EAE-A5A4813AA496}"/>
              </a:ext>
            </a:extLst>
          </p:cNvPr>
          <p:cNvSpPr>
            <a:spLocks noGrp="1"/>
          </p:cNvSpPr>
          <p:nvPr/>
        </p:nvSpPr>
        <p:spPr>
          <a:xfrm>
            <a:off x="685800" y="7400925"/>
            <a:ext cx="138684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425" b="0">
                <a:solidFill>
                  <a:srgbClr val="B2B5D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B2B5D5"/>
                </a:solidFill>
                <a:latin typeface="Helvetica Neue"/>
                <a:ea typeface="Helvetica Neue"/>
                <a:cs typeface="Helvetica Neue"/>
              </a:rPr>
              <a:t>Основной продукт: mini-app и web. Отдельный контур бота и уведомлений.</a:t>
            </a:r>
          </a:p>
        </p:txBody>
      </p:sp>
    </p:spTree>
    <p:extLst>
      <p:ext uri="{BB962C8B-B14F-4D97-AF65-F5344CB8AC3E}">
        <p14:creationId xmlns:p14="http://schemas.microsoft.com/office/powerpoint/2010/main" val="21244404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6071C"/>
            </a:gs>
            <a:gs pos="58000">
              <a:srgbClr val="090B27"/>
            </a:gs>
            <a:gs pos="100000">
              <a:srgbClr val="14104F"/>
            </a:gs>
          </a:gsLst>
          <a:lin ang="15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FE7EDB92-6973-49F0-B1B0-64C9B9A280D6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23825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350" b="1">
                <a:solidFill>
                  <a:srgbClr val="BE91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BE91D9"/>
                </a:solidFill>
                <a:latin typeface="Helvetica Neue"/>
                <a:ea typeface="Helvetica Neue"/>
                <a:cs typeface="Helvetica Neue"/>
              </a:rPr>
              <a:t>МЕТРИКА УСПЕХА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548C687A-EC11-4339-8BD8-0775A14C28A9}"/>
              </a:ext>
            </a:extLst>
          </p:cNvPr>
          <p:cNvSpPr>
            <a:spLocks noGrp="1"/>
          </p:cNvSpPr>
          <p:nvPr/>
        </p:nvSpPr>
        <p:spPr>
          <a:xfrm>
            <a:off x="685800" y="904875"/>
            <a:ext cx="13868400" cy="1428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Как проверяем, создаём ли мы ценность</a:t>
            </a:r>
          </a:p>
        </p:txBody>
      </p:sp>
      <p:sp>
        <p:nv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4D0FBCF9-29DF-4CCB-8DE7-AD177EBA8B69}"/>
              </a:ext>
            </a:extLst>
          </p:cNvPr>
          <p:cNvSpPr>
            <a:spLocks noGrp="1"/>
          </p:cNvSpPr>
          <p:nvPr/>
        </p:nvSpPr>
        <p:spPr>
          <a:xfrm>
            <a:off x="685800" y="8001000"/>
            <a:ext cx="13868400" cy="0"/>
          </a:xfrm>
          <a:prstGeom prst="line">
            <a:avLst/>
          </a:prstGeom>
          <a:noFill/>
          <a:ln w="9525">
            <a:solidFill>
              <a:srgbClr val="FFFFFF">
                <a:alpha val="12000"/>
              </a:srgbClr>
            </a:solidFill>
          </a:ln>
        </p:spPr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DB82D81-5878-4024-922C-EDE7858247D8}"/>
              </a:ext>
            </a:extLst>
          </p:cNvPr>
          <p:cNvSpPr>
            <a:spLocks noGrp="1"/>
          </p:cNvSpPr>
          <p:nvPr/>
        </p:nvSpPr>
        <p:spPr>
          <a:xfrm>
            <a:off x="685800" y="8153400"/>
            <a:ext cx="80962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125" b="0">
                <a:solidFill>
                  <a:srgbClr val="B2B5D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B2B5D5"/>
                </a:solidFill>
                <a:latin typeface="Helvetica Neue"/>
                <a:ea typeface="Helvetica Neue"/>
                <a:cs typeface="Helvetica Neue"/>
              </a:rPr>
              <a:t>HOSPITALITY EXCHANGE / MAX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80288E50-0D01-40C5-A2CB-E557BA9E29FE}"/>
              </a:ext>
            </a:extLst>
          </p:cNvPr>
          <p:cNvSpPr>
            <a:spLocks noGrp="1"/>
          </p:cNvSpPr>
          <p:nvPr/>
        </p:nvSpPr>
        <p:spPr>
          <a:xfrm>
            <a:off x="13887450" y="8115300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500" b="0">
                <a:solidFill>
                  <a:srgbClr val="B2B5D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B2B5D5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D8B7E94D-7EE0-4A02-B99E-75884D538699}"/>
              </a:ext>
            </a:extLst>
          </p:cNvPr>
          <p:cNvSpPr>
            <a:spLocks noGrp="1"/>
          </p:cNvSpPr>
          <p:nvPr/>
        </p:nvSpPr>
        <p:spPr>
          <a:xfrm>
            <a:off x="685800" y="2381250"/>
            <a:ext cx="1386840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700" b="1">
                <a:solidFill>
                  <a:srgbClr val="BE91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BE91D9"/>
                </a:solidFill>
                <a:latin typeface="Helvetica Neue"/>
                <a:ea typeface="Helvetica Neue"/>
                <a:cs typeface="Helvetica Neue"/>
              </a:rPr>
              <a:t>Доля запросов с предварительным одобрением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82C1E54E-3C66-4AC5-A072-B4645F8254D2}"/>
              </a:ext>
            </a:extLst>
          </p:cNvPr>
          <p:cNvSpPr>
            <a:spLocks noGrp="1"/>
          </p:cNvSpPr>
          <p:nvPr/>
        </p:nvSpPr>
        <p:spPr>
          <a:xfrm>
            <a:off x="685800" y="3390900"/>
            <a:ext cx="8343900" cy="2895600"/>
          </a:xfrm>
          <a:prstGeom prst="roundRect">
            <a:avLst>
              <a:gd name="adj" fmla="val 7895"/>
            </a:avLst>
          </a:prstGeom>
          <a:gradFill>
            <a:gsLst>
              <a:gs pos="0">
                <a:srgbClr val="374AF3"/>
              </a:gs>
              <a:gs pos="48000">
                <a:srgbClr val="554DDE"/>
              </a:gs>
              <a:gs pos="100000">
                <a:srgbClr val="62047B"/>
              </a:gs>
            </a:gsLst>
            <a:lin ang="1500000"/>
          </a:gradFill>
          <a:ln w="9525">
            <a:solidFill>
              <a:srgbClr val="8C82F4">
                <a:alpha val="70000"/>
              </a:srgbClr>
            </a:solidFill>
          </a:ln>
        </p:spPr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3C845056-D4AF-447F-B2CB-9350D300C120}"/>
              </a:ext>
            </a:extLst>
          </p:cNvPr>
          <p:cNvSpPr>
            <a:spLocks noGrp="1"/>
          </p:cNvSpPr>
          <p:nvPr/>
        </p:nvSpPr>
        <p:spPr>
          <a:xfrm>
            <a:off x="1104900" y="3790950"/>
            <a:ext cx="7496175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32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Одобренные запросы</a:t>
            </a: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0F7F4997-3947-49AD-BC52-5D764662B0C1}"/>
              </a:ext>
            </a:extLst>
          </p:cNvPr>
          <p:cNvSpPr>
            <a:spLocks noGrp="1"/>
          </p:cNvSpPr>
          <p:nvPr/>
        </p:nvSpPr>
        <p:spPr>
          <a:xfrm>
            <a:off x="1362075" y="4667250"/>
            <a:ext cx="6924675" cy="0"/>
          </a:xfrm>
          <a:prstGeom prst="line">
            <a:avLst/>
          </a:prstGeom>
          <a:noFill/>
          <a:ln w="19050">
            <a:solidFill>
              <a:srgbClr val="FFFFFF">
                <a:alpha val="60000"/>
              </a:srgbClr>
            </a:solidFill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7077284E-858B-46B5-AE63-FCA3FA7BE9CD}"/>
              </a:ext>
            </a:extLst>
          </p:cNvPr>
          <p:cNvSpPr>
            <a:spLocks noGrp="1"/>
          </p:cNvSpPr>
          <p:nvPr/>
        </p:nvSpPr>
        <p:spPr>
          <a:xfrm>
            <a:off x="1104900" y="4981575"/>
            <a:ext cx="7496175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29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Все отправленные запросы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670F5352-BCB2-47EE-9700-8FF5532376EB}"/>
              </a:ext>
            </a:extLst>
          </p:cNvPr>
          <p:cNvSpPr>
            <a:spLocks noGrp="1"/>
          </p:cNvSpPr>
          <p:nvPr/>
        </p:nvSpPr>
        <p:spPr>
          <a:xfrm>
            <a:off x="9753600" y="3609975"/>
            <a:ext cx="47625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250" b="0">
                <a:solidFill>
                  <a:srgbClr val="B2B5D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B2B5D5"/>
                </a:solidFill>
                <a:latin typeface="Helvetica Neue"/>
                <a:ea typeface="Helvetica Neue"/>
                <a:cs typeface="Helvetica Neue"/>
              </a:rPr>
              <a:t>Главное действие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2403596-060E-4373-8E85-3E95E64C10AA}"/>
              </a:ext>
            </a:extLst>
          </p:cNvPr>
          <p:cNvSpPr>
            <a:spLocks noGrp="1"/>
          </p:cNvSpPr>
          <p:nvPr/>
        </p:nvSpPr>
        <p:spPr>
          <a:xfrm>
            <a:off x="9753600" y="4286250"/>
            <a:ext cx="4762500" cy="1666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Гость и хозяин</a:t>
            </a:r>
          </a:p>
          <a:p>
            <a:pPr algn="l"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готовы начать</a:t>
            </a:r>
          </a:p>
          <a:p>
            <a:pPr algn="l"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взаимодействие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04FB10E9-52DD-49EC-9D87-05022033B7EE}"/>
              </a:ext>
            </a:extLst>
          </p:cNvPr>
          <p:cNvSpPr>
            <a:spLocks noGrp="1"/>
          </p:cNvSpPr>
          <p:nvPr/>
        </p:nvSpPr>
        <p:spPr>
          <a:xfrm>
            <a:off x="685800" y="6705600"/>
            <a:ext cx="138684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Измеряем готовность к контакту, а не регистрации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085C0B2A-0799-4999-965C-C27AF3A98472}"/>
              </a:ext>
            </a:extLst>
          </p:cNvPr>
          <p:cNvSpPr>
            <a:spLocks noGrp="1"/>
          </p:cNvSpPr>
          <p:nvPr/>
        </p:nvSpPr>
        <p:spPr>
          <a:xfrm>
            <a:off x="685800" y="7400925"/>
            <a:ext cx="138684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425" b="0">
                <a:solidFill>
                  <a:srgbClr val="B2B5D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B2B5D5"/>
                </a:solidFill>
                <a:latin typeface="Helvetica Neue"/>
                <a:ea typeface="Helvetica Neue"/>
                <a:cs typeface="Helvetica Neue"/>
              </a:rPr>
              <a:t>Share of hospitality requests that receive preliminary approval</a:t>
            </a:r>
          </a:p>
        </p:txBody>
      </p:sp>
    </p:spTree>
    <p:extLst>
      <p:ext uri="{BB962C8B-B14F-4D97-AF65-F5344CB8AC3E}">
        <p14:creationId xmlns:p14="http://schemas.microsoft.com/office/powerpoint/2010/main" val="11287662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6071C"/>
            </a:gs>
            <a:gs pos="58000">
              <a:srgbClr val="090B27"/>
            </a:gs>
            <a:gs pos="100000">
              <a:srgbClr val="14104F"/>
            </a:gs>
          </a:gsLst>
          <a:lin ang="15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A81A46DD-8EE0-41F8-94C1-FC431354D857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23825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350" b="1">
                <a:solidFill>
                  <a:srgbClr val="BE91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BE91D9"/>
                </a:solidFill>
                <a:latin typeface="Helvetica Neue"/>
                <a:ea typeface="Helvetica Neue"/>
                <a:cs typeface="Helvetica Neue"/>
              </a:rPr>
              <a:t>ПИЛОТ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F6BB2A81-D8E9-4F6C-97FD-FEE0B0B908BA}"/>
              </a:ext>
            </a:extLst>
          </p:cNvPr>
          <p:cNvSpPr>
            <a:spLocks noGrp="1"/>
          </p:cNvSpPr>
          <p:nvPr/>
        </p:nvSpPr>
        <p:spPr>
          <a:xfrm>
            <a:off x="685800" y="904875"/>
            <a:ext cx="13868400" cy="1428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Первый эксперимент: Москва ↔ Казань</a:t>
            </a:r>
          </a:p>
        </p:txBody>
      </p:sp>
      <p:sp>
        <p:nv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CCCF1DA4-E9CF-41C5-95B9-7A4C5C3C5F74}"/>
              </a:ext>
            </a:extLst>
          </p:cNvPr>
          <p:cNvSpPr>
            <a:spLocks noGrp="1"/>
          </p:cNvSpPr>
          <p:nvPr/>
        </p:nvSpPr>
        <p:spPr>
          <a:xfrm>
            <a:off x="685800" y="8001000"/>
            <a:ext cx="13868400" cy="0"/>
          </a:xfrm>
          <a:prstGeom prst="line">
            <a:avLst/>
          </a:prstGeom>
          <a:noFill/>
          <a:ln w="9525">
            <a:solidFill>
              <a:srgbClr val="FFFFFF">
                <a:alpha val="12000"/>
              </a:srgbClr>
            </a:solidFill>
          </a:ln>
        </p:spPr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0ED6A7F-E9C5-41B9-8F92-8464AB0AF135}"/>
              </a:ext>
            </a:extLst>
          </p:cNvPr>
          <p:cNvSpPr>
            <a:spLocks noGrp="1"/>
          </p:cNvSpPr>
          <p:nvPr/>
        </p:nvSpPr>
        <p:spPr>
          <a:xfrm>
            <a:off x="685800" y="8153400"/>
            <a:ext cx="80962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125" b="0">
                <a:solidFill>
                  <a:srgbClr val="B2B5D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B2B5D5"/>
                </a:solidFill>
                <a:latin typeface="Helvetica Neue"/>
                <a:ea typeface="Helvetica Neue"/>
                <a:cs typeface="Helvetica Neue"/>
              </a:rPr>
              <a:t>HOSPITALITY EXCHANGE / MAX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5BAE7D64-7F02-4EBE-B84C-422B7BBD0BAD}"/>
              </a:ext>
            </a:extLst>
          </p:cNvPr>
          <p:cNvSpPr>
            <a:spLocks noGrp="1"/>
          </p:cNvSpPr>
          <p:nvPr/>
        </p:nvSpPr>
        <p:spPr>
          <a:xfrm>
            <a:off x="13887450" y="8115300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500" b="0">
                <a:solidFill>
                  <a:srgbClr val="B2B5D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B2B5D5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6" name="Полилиния: фигура 5">
            <a:extLst>
              <a:ext uri="{FF2B5EF4-FFF2-40B4-BE49-F238E27FC236}">
                <a16:creationId xmlns:a16="http://schemas.microsoft.com/office/drawing/2014/main" id="{77DA2AF3-5194-4A8A-812C-96C11B5E6625}"/>
              </a:ext>
            </a:extLst>
          </p:cNvPr>
          <p:cNvSpPr>
            <a:spLocks noGrp="1"/>
          </p:cNvSpPr>
          <p:nvPr/>
        </p:nvSpPr>
        <p:spPr>
          <a:xfrm>
            <a:off x="685800" y="2857500"/>
            <a:ext cx="8667750" cy="3238500"/>
          </a:xfrm>
          <a:custGeom>
            <a:avLst/>
            <a:gdLst/>
            <a:ahLst/>
            <a:cxnLst/>
            <a:rect l="0" t="0" r="0" b="0"/>
            <a:pathLst>
              <a:path w="8667750" h="3238500">
                <a:moveTo>
                  <a:pt x="8049180" y="875955"/>
                </a:moveTo>
                <a:lnTo>
                  <a:pt x="8113417" y="845270"/>
                </a:lnTo>
                <a:lnTo>
                  <a:pt x="8113417" y="895578"/>
                </a:lnTo>
                <a:lnTo>
                  <a:pt x="8058156" y="899336"/>
                </a:lnTo>
                <a:lnTo>
                  <a:pt x="8049180" y="875955"/>
                </a:lnTo>
                <a:close/>
              </a:path>
              <a:path w="8667750" h="3238500">
                <a:moveTo>
                  <a:pt x="1516915" y="2693892"/>
                </a:moveTo>
                <a:lnTo>
                  <a:pt x="1493948" y="2737542"/>
                </a:lnTo>
                <a:lnTo>
                  <a:pt x="1445091" y="2749671"/>
                </a:lnTo>
                <a:lnTo>
                  <a:pt x="1395004" y="2825650"/>
                </a:lnTo>
                <a:lnTo>
                  <a:pt x="1440809" y="2895502"/>
                </a:lnTo>
                <a:lnTo>
                  <a:pt x="1435849" y="2945079"/>
                </a:lnTo>
                <a:lnTo>
                  <a:pt x="1490872" y="3031760"/>
                </a:lnTo>
                <a:lnTo>
                  <a:pt x="1490871" y="3031761"/>
                </a:lnTo>
                <a:lnTo>
                  <a:pt x="1460782" y="3061426"/>
                </a:lnTo>
                <a:lnTo>
                  <a:pt x="1452134" y="3080151"/>
                </a:lnTo>
                <a:lnTo>
                  <a:pt x="1429842" y="3075123"/>
                </a:lnTo>
                <a:lnTo>
                  <a:pt x="1395209" y="3030416"/>
                </a:lnTo>
                <a:lnTo>
                  <a:pt x="1381042" y="3027948"/>
                </a:lnTo>
                <a:lnTo>
                  <a:pt x="1349367" y="3010889"/>
                </a:lnTo>
                <a:lnTo>
                  <a:pt x="1333940" y="2980687"/>
                </a:lnTo>
                <a:lnTo>
                  <a:pt x="1286940" y="2965289"/>
                </a:lnTo>
                <a:lnTo>
                  <a:pt x="1256381" y="2976847"/>
                </a:lnTo>
                <a:lnTo>
                  <a:pt x="1247551" y="2963166"/>
                </a:lnTo>
                <a:lnTo>
                  <a:pt x="1178935" y="2927876"/>
                </a:lnTo>
                <a:lnTo>
                  <a:pt x="1104745" y="2915964"/>
                </a:lnTo>
                <a:lnTo>
                  <a:pt x="1062150" y="2903381"/>
                </a:lnTo>
                <a:lnTo>
                  <a:pt x="1056005" y="2912074"/>
                </a:lnTo>
                <a:lnTo>
                  <a:pt x="991752" y="2849880"/>
                </a:lnTo>
                <a:lnTo>
                  <a:pt x="934258" y="2822116"/>
                </a:lnTo>
                <a:lnTo>
                  <a:pt x="890735" y="2778877"/>
                </a:lnTo>
                <a:lnTo>
                  <a:pt x="927407" y="2767114"/>
                </a:lnTo>
                <a:lnTo>
                  <a:pt x="969223" y="2705556"/>
                </a:lnTo>
                <a:lnTo>
                  <a:pt x="941041" y="2676431"/>
                </a:lnTo>
                <a:lnTo>
                  <a:pt x="1015320" y="2646388"/>
                </a:lnTo>
                <a:lnTo>
                  <a:pt x="1013986" y="2630298"/>
                </a:lnTo>
                <a:lnTo>
                  <a:pt x="968749" y="2642160"/>
                </a:lnTo>
                <a:lnTo>
                  <a:pt x="970340" y="2609466"/>
                </a:lnTo>
                <a:lnTo>
                  <a:pt x="996316" y="2588914"/>
                </a:lnTo>
                <a:lnTo>
                  <a:pt x="1045083" y="2583518"/>
                </a:lnTo>
                <a:lnTo>
                  <a:pt x="1053012" y="2558974"/>
                </a:lnTo>
                <a:lnTo>
                  <a:pt x="1041876" y="2518389"/>
                </a:lnTo>
                <a:lnTo>
                  <a:pt x="1062343" y="2479850"/>
                </a:lnTo>
                <a:lnTo>
                  <a:pt x="1061751" y="2458239"/>
                </a:lnTo>
                <a:lnTo>
                  <a:pt x="987468" y="2434288"/>
                </a:lnTo>
                <a:lnTo>
                  <a:pt x="958020" y="2435082"/>
                </a:lnTo>
                <a:lnTo>
                  <a:pt x="926918" y="2400615"/>
                </a:lnTo>
                <a:lnTo>
                  <a:pt x="888251" y="2412271"/>
                </a:lnTo>
                <a:lnTo>
                  <a:pt x="824248" y="2386392"/>
                </a:lnTo>
                <a:lnTo>
                  <a:pt x="825347" y="2371911"/>
                </a:lnTo>
                <a:lnTo>
                  <a:pt x="807420" y="2339995"/>
                </a:lnTo>
                <a:lnTo>
                  <a:pt x="767238" y="2336431"/>
                </a:lnTo>
                <a:lnTo>
                  <a:pt x="763063" y="2313583"/>
                </a:lnTo>
                <a:lnTo>
                  <a:pt x="775649" y="2298681"/>
                </a:lnTo>
                <a:lnTo>
                  <a:pt x="743446" y="2257008"/>
                </a:lnTo>
                <a:lnTo>
                  <a:pt x="691191" y="2264119"/>
                </a:lnTo>
                <a:lnTo>
                  <a:pt x="675886" y="2260422"/>
                </a:lnTo>
                <a:lnTo>
                  <a:pt x="663155" y="2277162"/>
                </a:lnTo>
                <a:lnTo>
                  <a:pt x="644336" y="2274187"/>
                </a:lnTo>
                <a:lnTo>
                  <a:pt x="644335" y="2274187"/>
                </a:lnTo>
                <a:lnTo>
                  <a:pt x="631940" y="2227054"/>
                </a:lnTo>
                <a:lnTo>
                  <a:pt x="620107" y="2202622"/>
                </a:lnTo>
                <a:lnTo>
                  <a:pt x="629805" y="2195745"/>
                </a:lnTo>
                <a:lnTo>
                  <a:pt x="670467" y="2198299"/>
                </a:lnTo>
                <a:lnTo>
                  <a:pt x="690076" y="2182203"/>
                </a:lnTo>
                <a:lnTo>
                  <a:pt x="675560" y="2162579"/>
                </a:lnTo>
                <a:lnTo>
                  <a:pt x="641578" y="2149626"/>
                </a:lnTo>
                <a:lnTo>
                  <a:pt x="644610" y="2136333"/>
                </a:lnTo>
                <a:lnTo>
                  <a:pt x="624102" y="2122906"/>
                </a:lnTo>
                <a:lnTo>
                  <a:pt x="592508" y="2074718"/>
                </a:lnTo>
                <a:lnTo>
                  <a:pt x="603307" y="2054862"/>
                </a:lnTo>
                <a:lnTo>
                  <a:pt x="598373" y="2020311"/>
                </a:lnTo>
                <a:lnTo>
                  <a:pt x="549107" y="2002757"/>
                </a:lnTo>
                <a:lnTo>
                  <a:pt x="522664" y="2011543"/>
                </a:lnTo>
                <a:lnTo>
                  <a:pt x="515505" y="1993271"/>
                </a:lnTo>
                <a:lnTo>
                  <a:pt x="462450" y="1974813"/>
                </a:lnTo>
                <a:lnTo>
                  <a:pt x="446252" y="1931373"/>
                </a:lnTo>
                <a:lnTo>
                  <a:pt x="441955" y="1895681"/>
                </a:lnTo>
                <a:lnTo>
                  <a:pt x="417674" y="1878733"/>
                </a:lnTo>
                <a:lnTo>
                  <a:pt x="439268" y="1855374"/>
                </a:lnTo>
                <a:lnTo>
                  <a:pt x="424324" y="1786727"/>
                </a:lnTo>
                <a:lnTo>
                  <a:pt x="460182" y="1744313"/>
                </a:lnTo>
                <a:lnTo>
                  <a:pt x="452594" y="1731466"/>
                </a:lnTo>
                <a:lnTo>
                  <a:pt x="452594" y="1731466"/>
                </a:lnTo>
                <a:lnTo>
                  <a:pt x="509870" y="1690788"/>
                </a:lnTo>
                <a:lnTo>
                  <a:pt x="457073" y="1655792"/>
                </a:lnTo>
                <a:lnTo>
                  <a:pt x="457073" y="1655792"/>
                </a:lnTo>
                <a:lnTo>
                  <a:pt x="564971" y="1561838"/>
                </a:lnTo>
                <a:lnTo>
                  <a:pt x="611781" y="1519321"/>
                </a:lnTo>
                <a:lnTo>
                  <a:pt x="630735" y="1481784"/>
                </a:lnTo>
                <a:lnTo>
                  <a:pt x="556141" y="1431357"/>
                </a:lnTo>
                <a:lnTo>
                  <a:pt x="576742" y="1383395"/>
                </a:lnTo>
                <a:lnTo>
                  <a:pt x="531375" y="1328619"/>
                </a:lnTo>
                <a:lnTo>
                  <a:pt x="565301" y="1265519"/>
                </a:lnTo>
                <a:lnTo>
                  <a:pt x="506690" y="1181737"/>
                </a:lnTo>
                <a:lnTo>
                  <a:pt x="553195" y="1126240"/>
                </a:lnTo>
                <a:lnTo>
                  <a:pt x="476018" y="1077198"/>
                </a:lnTo>
                <a:lnTo>
                  <a:pt x="483375" y="1025664"/>
                </a:lnTo>
                <a:lnTo>
                  <a:pt x="524074" y="1018882"/>
                </a:lnTo>
                <a:lnTo>
                  <a:pt x="609819" y="989354"/>
                </a:lnTo>
                <a:lnTo>
                  <a:pt x="609821" y="989354"/>
                </a:lnTo>
                <a:lnTo>
                  <a:pt x="661809" y="963752"/>
                </a:lnTo>
                <a:lnTo>
                  <a:pt x="744593" y="1008247"/>
                </a:lnTo>
                <a:lnTo>
                  <a:pt x="882597" y="1025764"/>
                </a:lnTo>
                <a:lnTo>
                  <a:pt x="1073004" y="1109010"/>
                </a:lnTo>
                <a:lnTo>
                  <a:pt x="1111683" y="1143991"/>
                </a:lnTo>
                <a:lnTo>
                  <a:pt x="1115013" y="1192977"/>
                </a:lnTo>
                <a:lnTo>
                  <a:pt x="1059070" y="1231647"/>
                </a:lnTo>
                <a:lnTo>
                  <a:pt x="976782" y="1251273"/>
                </a:lnTo>
                <a:lnTo>
                  <a:pt x="751812" y="1195330"/>
                </a:lnTo>
                <a:lnTo>
                  <a:pt x="714809" y="1204683"/>
                </a:lnTo>
                <a:lnTo>
                  <a:pt x="796968" y="1258588"/>
                </a:lnTo>
                <a:lnTo>
                  <a:pt x="800183" y="1292735"/>
                </a:lnTo>
                <a:lnTo>
                  <a:pt x="803476" y="1367945"/>
                </a:lnTo>
                <a:lnTo>
                  <a:pt x="868352" y="1390387"/>
                </a:lnTo>
                <a:lnTo>
                  <a:pt x="907732" y="1409496"/>
                </a:lnTo>
                <a:lnTo>
                  <a:pt x="914245" y="1373808"/>
                </a:lnTo>
                <a:lnTo>
                  <a:pt x="883888" y="1342177"/>
                </a:lnTo>
                <a:lnTo>
                  <a:pt x="915961" y="1314300"/>
                </a:lnTo>
                <a:lnTo>
                  <a:pt x="1037784" y="1360112"/>
                </a:lnTo>
                <a:lnTo>
                  <a:pt x="1080223" y="1342177"/>
                </a:lnTo>
                <a:lnTo>
                  <a:pt x="1046308" y="1288274"/>
                </a:lnTo>
                <a:lnTo>
                  <a:pt x="1163751" y="1216187"/>
                </a:lnTo>
                <a:lnTo>
                  <a:pt x="1210262" y="1220430"/>
                </a:lnTo>
                <a:lnTo>
                  <a:pt x="1257315" y="1246154"/>
                </a:lnTo>
                <a:lnTo>
                  <a:pt x="1286670" y="1195570"/>
                </a:lnTo>
                <a:lnTo>
                  <a:pt x="1244648" y="1151695"/>
                </a:lnTo>
                <a:lnTo>
                  <a:pt x="1269319" y="1107677"/>
                </a:lnTo>
                <a:lnTo>
                  <a:pt x="1232273" y="1062023"/>
                </a:lnTo>
                <a:lnTo>
                  <a:pt x="1373234" y="1085634"/>
                </a:lnTo>
                <a:lnTo>
                  <a:pt x="1402026" y="1126853"/>
                </a:lnTo>
                <a:lnTo>
                  <a:pt x="1338218" y="1135939"/>
                </a:lnTo>
                <a:lnTo>
                  <a:pt x="1338564" y="1176897"/>
                </a:lnTo>
                <a:lnTo>
                  <a:pt x="1378230" y="1202097"/>
                </a:lnTo>
                <a:lnTo>
                  <a:pt x="1456089" y="1186134"/>
                </a:lnTo>
                <a:lnTo>
                  <a:pt x="1468416" y="1139188"/>
                </a:lnTo>
                <a:lnTo>
                  <a:pt x="1573683" y="1104132"/>
                </a:lnTo>
                <a:lnTo>
                  <a:pt x="1749547" y="1040929"/>
                </a:lnTo>
                <a:lnTo>
                  <a:pt x="1787558" y="1044552"/>
                </a:lnTo>
                <a:lnTo>
                  <a:pt x="1737875" y="1089217"/>
                </a:lnTo>
                <a:lnTo>
                  <a:pt x="1800386" y="1096893"/>
                </a:lnTo>
                <a:lnTo>
                  <a:pt x="1836489" y="1071748"/>
                </a:lnTo>
                <a:lnTo>
                  <a:pt x="1930944" y="1069715"/>
                </a:lnTo>
                <a:lnTo>
                  <a:pt x="2005778" y="1039204"/>
                </a:lnTo>
                <a:lnTo>
                  <a:pt x="2063198" y="1083540"/>
                </a:lnTo>
                <a:lnTo>
                  <a:pt x="2120466" y="1034797"/>
                </a:lnTo>
                <a:lnTo>
                  <a:pt x="2067662" y="992159"/>
                </a:lnTo>
                <a:lnTo>
                  <a:pt x="2093866" y="967870"/>
                </a:lnTo>
                <a:lnTo>
                  <a:pt x="2242730" y="990143"/>
                </a:lnTo>
                <a:lnTo>
                  <a:pt x="2312481" y="1013147"/>
                </a:lnTo>
                <a:lnTo>
                  <a:pt x="2495111" y="1097238"/>
                </a:lnTo>
                <a:lnTo>
                  <a:pt x="2528800" y="1058722"/>
                </a:lnTo>
                <a:lnTo>
                  <a:pt x="2477588" y="1019807"/>
                </a:lnTo>
                <a:lnTo>
                  <a:pt x="2476115" y="1004193"/>
                </a:lnTo>
                <a:lnTo>
                  <a:pt x="2415383" y="996971"/>
                </a:lnTo>
                <a:lnTo>
                  <a:pt x="2431997" y="962075"/>
                </a:lnTo>
                <a:lnTo>
                  <a:pt x="2405045" y="904654"/>
                </a:lnTo>
                <a:lnTo>
                  <a:pt x="2403520" y="881095"/>
                </a:lnTo>
                <a:lnTo>
                  <a:pt x="2496517" y="814446"/>
                </a:lnTo>
                <a:lnTo>
                  <a:pt x="2529590" y="747552"/>
                </a:lnTo>
                <a:lnTo>
                  <a:pt x="2567065" y="733079"/>
                </a:lnTo>
                <a:lnTo>
                  <a:pt x="2700485" y="752488"/>
                </a:lnTo>
                <a:lnTo>
                  <a:pt x="2710992" y="793428"/>
                </a:lnTo>
                <a:lnTo>
                  <a:pt x="2663222" y="853125"/>
                </a:lnTo>
                <a:lnTo>
                  <a:pt x="2694567" y="876589"/>
                </a:lnTo>
                <a:lnTo>
                  <a:pt x="2710782" y="928041"/>
                </a:lnTo>
                <a:lnTo>
                  <a:pt x="2699334" y="1028897"/>
                </a:lnTo>
                <a:lnTo>
                  <a:pt x="2754927" y="1074012"/>
                </a:lnTo>
                <a:lnTo>
                  <a:pt x="2733299" y="1123141"/>
                </a:lnTo>
                <a:lnTo>
                  <a:pt x="2634593" y="1227686"/>
                </a:lnTo>
                <a:lnTo>
                  <a:pt x="2692194" y="1238530"/>
                </a:lnTo>
                <a:lnTo>
                  <a:pt x="2712238" y="1212033"/>
                </a:lnTo>
                <a:lnTo>
                  <a:pt x="2767683" y="1193133"/>
                </a:lnTo>
                <a:lnTo>
                  <a:pt x="2781063" y="1156712"/>
                </a:lnTo>
                <a:lnTo>
                  <a:pt x="2824679" y="1121664"/>
                </a:lnTo>
                <a:lnTo>
                  <a:pt x="2795312" y="1079820"/>
                </a:lnTo>
                <a:lnTo>
                  <a:pt x="2818825" y="1031228"/>
                </a:lnTo>
                <a:lnTo>
                  <a:pt x="2763720" y="1025172"/>
                </a:lnTo>
                <a:lnTo>
                  <a:pt x="2751601" y="984237"/>
                </a:lnTo>
                <a:lnTo>
                  <a:pt x="2791812" y="910331"/>
                </a:lnTo>
                <a:lnTo>
                  <a:pt x="2726365" y="850315"/>
                </a:lnTo>
                <a:lnTo>
                  <a:pt x="2816556" y="800705"/>
                </a:lnTo>
                <a:lnTo>
                  <a:pt x="2804887" y="748368"/>
                </a:lnTo>
                <a:lnTo>
                  <a:pt x="2830021" y="746697"/>
                </a:lnTo>
                <a:lnTo>
                  <a:pt x="2856503" y="787503"/>
                </a:lnTo>
                <a:lnTo>
                  <a:pt x="2836621" y="858529"/>
                </a:lnTo>
                <a:lnTo>
                  <a:pt x="2890549" y="871976"/>
                </a:lnTo>
                <a:lnTo>
                  <a:pt x="2867570" y="818898"/>
                </a:lnTo>
                <a:lnTo>
                  <a:pt x="2951906" y="789961"/>
                </a:lnTo>
                <a:lnTo>
                  <a:pt x="3056492" y="786064"/>
                </a:lnTo>
                <a:lnTo>
                  <a:pt x="3149618" y="828026"/>
                </a:lnTo>
                <a:lnTo>
                  <a:pt x="3104804" y="766726"/>
                </a:lnTo>
                <a:lnTo>
                  <a:pt x="3099783" y="688314"/>
                </a:lnTo>
                <a:lnTo>
                  <a:pt x="3187414" y="673461"/>
                </a:lnTo>
                <a:lnTo>
                  <a:pt x="3308624" y="676706"/>
                </a:lnTo>
                <a:lnTo>
                  <a:pt x="3417830" y="667066"/>
                </a:lnTo>
                <a:lnTo>
                  <a:pt x="3376873" y="628588"/>
                </a:lnTo>
                <a:lnTo>
                  <a:pt x="3435192" y="580249"/>
                </a:lnTo>
                <a:lnTo>
                  <a:pt x="3493089" y="578225"/>
                </a:lnTo>
                <a:lnTo>
                  <a:pt x="3591069" y="541713"/>
                </a:lnTo>
                <a:lnTo>
                  <a:pt x="3724138" y="531899"/>
                </a:lnTo>
                <a:lnTo>
                  <a:pt x="3740951" y="511742"/>
                </a:lnTo>
                <a:lnTo>
                  <a:pt x="3873275" y="504912"/>
                </a:lnTo>
                <a:lnTo>
                  <a:pt x="3914508" y="521437"/>
                </a:lnTo>
                <a:lnTo>
                  <a:pt x="4027608" y="482324"/>
                </a:lnTo>
                <a:lnTo>
                  <a:pt x="4120188" y="483546"/>
                </a:lnTo>
                <a:lnTo>
                  <a:pt x="4134079" y="451779"/>
                </a:lnTo>
                <a:lnTo>
                  <a:pt x="4182232" y="420450"/>
                </a:lnTo>
                <a:lnTo>
                  <a:pt x="4301200" y="390245"/>
                </a:lnTo>
                <a:lnTo>
                  <a:pt x="4387627" y="414094"/>
                </a:lnTo>
                <a:lnTo>
                  <a:pt x="4319009" y="432237"/>
                </a:lnTo>
                <a:lnTo>
                  <a:pt x="4433158" y="443513"/>
                </a:lnTo>
                <a:lnTo>
                  <a:pt x="4446757" y="479887"/>
                </a:lnTo>
                <a:lnTo>
                  <a:pt x="4492807" y="461976"/>
                </a:lnTo>
                <a:lnTo>
                  <a:pt x="4640132" y="462958"/>
                </a:lnTo>
                <a:lnTo>
                  <a:pt x="4753732" y="498859"/>
                </a:lnTo>
                <a:lnTo>
                  <a:pt x="4794181" y="526430"/>
                </a:lnTo>
                <a:lnTo>
                  <a:pt x="4781644" y="564692"/>
                </a:lnTo>
                <a:lnTo>
                  <a:pt x="4725898" y="586473"/>
                </a:lnTo>
                <a:lnTo>
                  <a:pt x="4593467" y="627332"/>
                </a:lnTo>
                <a:lnTo>
                  <a:pt x="4555608" y="649172"/>
                </a:lnTo>
                <a:lnTo>
                  <a:pt x="4618097" y="659476"/>
                </a:lnTo>
                <a:lnTo>
                  <a:pt x="4692639" y="678043"/>
                </a:lnTo>
                <a:lnTo>
                  <a:pt x="4738011" y="664118"/>
                </a:lnTo>
                <a:lnTo>
                  <a:pt x="4763714" y="711362"/>
                </a:lnTo>
                <a:lnTo>
                  <a:pt x="4785848" y="692238"/>
                </a:lnTo>
                <a:lnTo>
                  <a:pt x="4866429" y="680611"/>
                </a:lnTo>
                <a:lnTo>
                  <a:pt x="5028118" y="692765"/>
                </a:lnTo>
                <a:lnTo>
                  <a:pt x="5040397" y="727190"/>
                </a:lnTo>
                <a:lnTo>
                  <a:pt x="5251077" y="738141"/>
                </a:lnTo>
                <a:lnTo>
                  <a:pt x="5253955" y="681923"/>
                </a:lnTo>
                <a:lnTo>
                  <a:pt x="5360903" y="694805"/>
                </a:lnTo>
                <a:lnTo>
                  <a:pt x="5441353" y="694401"/>
                </a:lnTo>
                <a:lnTo>
                  <a:pt x="5522730" y="733174"/>
                </a:lnTo>
                <a:lnTo>
                  <a:pt x="5545927" y="780278"/>
                </a:lnTo>
                <a:lnTo>
                  <a:pt x="5516116" y="811097"/>
                </a:lnTo>
                <a:lnTo>
                  <a:pt x="5579410" y="869019"/>
                </a:lnTo>
                <a:lnTo>
                  <a:pt x="5658659" y="898905"/>
                </a:lnTo>
                <a:lnTo>
                  <a:pt x="5707285" y="821674"/>
                </a:lnTo>
                <a:lnTo>
                  <a:pt x="5788125" y="854786"/>
                </a:lnTo>
                <a:lnTo>
                  <a:pt x="5874010" y="834999"/>
                </a:lnTo>
                <a:lnTo>
                  <a:pt x="5971553" y="857641"/>
                </a:lnTo>
                <a:lnTo>
                  <a:pt x="6008670" y="837003"/>
                </a:lnTo>
                <a:lnTo>
                  <a:pt x="6091102" y="847322"/>
                </a:lnTo>
                <a:lnTo>
                  <a:pt x="6054721" y="778992"/>
                </a:lnTo>
                <a:lnTo>
                  <a:pt x="6121254" y="747106"/>
                </a:lnTo>
                <a:lnTo>
                  <a:pt x="6576403" y="794905"/>
                </a:lnTo>
                <a:lnTo>
                  <a:pt x="6619298" y="838593"/>
                </a:lnTo>
                <a:lnTo>
                  <a:pt x="6751215" y="894840"/>
                </a:lnTo>
                <a:lnTo>
                  <a:pt x="6954704" y="880915"/>
                </a:lnTo>
                <a:lnTo>
                  <a:pt x="7055034" y="893037"/>
                </a:lnTo>
                <a:lnTo>
                  <a:pt x="7096988" y="923470"/>
                </a:lnTo>
                <a:lnTo>
                  <a:pt x="7090857" y="977292"/>
                </a:lnTo>
                <a:lnTo>
                  <a:pt x="7152936" y="998247"/>
                </a:lnTo>
                <a:lnTo>
                  <a:pt x="7220390" y="983176"/>
                </a:lnTo>
                <a:lnTo>
                  <a:pt x="7309759" y="981249"/>
                </a:lnTo>
                <a:lnTo>
                  <a:pt x="7404898" y="995692"/>
                </a:lnTo>
                <a:lnTo>
                  <a:pt x="7500409" y="987545"/>
                </a:lnTo>
                <a:lnTo>
                  <a:pt x="7588193" y="1052969"/>
                </a:lnTo>
                <a:lnTo>
                  <a:pt x="7650644" y="1029429"/>
                </a:lnTo>
                <a:lnTo>
                  <a:pt x="7609891" y="982387"/>
                </a:lnTo>
                <a:lnTo>
                  <a:pt x="7632329" y="949688"/>
                </a:lnTo>
                <a:lnTo>
                  <a:pt x="7793109" y="970267"/>
                </a:lnTo>
                <a:lnTo>
                  <a:pt x="7897934" y="965864"/>
                </a:lnTo>
                <a:lnTo>
                  <a:pt x="8042866" y="1000991"/>
                </a:lnTo>
                <a:lnTo>
                  <a:pt x="8113417" y="1033108"/>
                </a:lnTo>
                <a:lnTo>
                  <a:pt x="8113417" y="1326334"/>
                </a:lnTo>
                <a:lnTo>
                  <a:pt x="8113055" y="1326730"/>
                </a:lnTo>
                <a:lnTo>
                  <a:pt x="8048268" y="1359071"/>
                </a:lnTo>
                <a:lnTo>
                  <a:pt x="7982961" y="1353678"/>
                </a:lnTo>
                <a:lnTo>
                  <a:pt x="8028403" y="1392855"/>
                </a:lnTo>
                <a:lnTo>
                  <a:pt x="8058400" y="1453500"/>
                </a:lnTo>
                <a:lnTo>
                  <a:pt x="8081686" y="1473325"/>
                </a:lnTo>
                <a:lnTo>
                  <a:pt x="8087533" y="1503772"/>
                </a:lnTo>
                <a:lnTo>
                  <a:pt x="8074526" y="1523265"/>
                </a:lnTo>
                <a:lnTo>
                  <a:pt x="7980594" y="1507235"/>
                </a:lnTo>
                <a:lnTo>
                  <a:pt x="7839743" y="1562639"/>
                </a:lnTo>
                <a:lnTo>
                  <a:pt x="7794934" y="1571216"/>
                </a:lnTo>
                <a:lnTo>
                  <a:pt x="7717825" y="1622930"/>
                </a:lnTo>
                <a:lnTo>
                  <a:pt x="7644678" y="1668109"/>
                </a:lnTo>
                <a:lnTo>
                  <a:pt x="7626151" y="1701554"/>
                </a:lnTo>
                <a:lnTo>
                  <a:pt x="7554068" y="1650638"/>
                </a:lnTo>
                <a:lnTo>
                  <a:pt x="7422768" y="1708415"/>
                </a:lnTo>
                <a:lnTo>
                  <a:pt x="7399840" y="1681076"/>
                </a:lnTo>
                <a:lnTo>
                  <a:pt x="7351297" y="1712607"/>
                </a:lnTo>
                <a:lnTo>
                  <a:pt x="7283898" y="1702516"/>
                </a:lnTo>
                <a:lnTo>
                  <a:pt x="7267662" y="1750924"/>
                </a:lnTo>
                <a:lnTo>
                  <a:pt x="7207200" y="1822151"/>
                </a:lnTo>
                <a:lnTo>
                  <a:pt x="7208996" y="1851898"/>
                </a:lnTo>
                <a:lnTo>
                  <a:pt x="7266392" y="1868391"/>
                </a:lnTo>
                <a:lnTo>
                  <a:pt x="7259641" y="1975541"/>
                </a:lnTo>
                <a:lnTo>
                  <a:pt x="7212857" y="1978268"/>
                </a:lnTo>
                <a:lnTo>
                  <a:pt x="7191282" y="2039837"/>
                </a:lnTo>
                <a:lnTo>
                  <a:pt x="7212248" y="2071526"/>
                </a:lnTo>
                <a:lnTo>
                  <a:pt x="7124123" y="2109122"/>
                </a:lnTo>
                <a:lnTo>
                  <a:pt x="7106634" y="2193159"/>
                </a:lnTo>
                <a:lnTo>
                  <a:pt x="7031508" y="2211109"/>
                </a:lnTo>
                <a:lnTo>
                  <a:pt x="7016402" y="2285889"/>
                </a:lnTo>
                <a:lnTo>
                  <a:pt x="6943764" y="2354459"/>
                </a:lnTo>
                <a:lnTo>
                  <a:pt x="6925129" y="2303751"/>
                </a:lnTo>
                <a:lnTo>
                  <a:pt x="6903551" y="2196369"/>
                </a:lnTo>
                <a:lnTo>
                  <a:pt x="6875424" y="2032819"/>
                </a:lnTo>
                <a:lnTo>
                  <a:pt x="6899651" y="1930741"/>
                </a:lnTo>
                <a:lnTo>
                  <a:pt x="6942170" y="1886816"/>
                </a:lnTo>
                <a:lnTo>
                  <a:pt x="6944800" y="1852419"/>
                </a:lnTo>
                <a:lnTo>
                  <a:pt x="7023111" y="1835953"/>
                </a:lnTo>
                <a:lnTo>
                  <a:pt x="7113131" y="1743287"/>
                </a:lnTo>
                <a:lnTo>
                  <a:pt x="7199879" y="1667607"/>
                </a:lnTo>
                <a:lnTo>
                  <a:pt x="7290469" y="1608879"/>
                </a:lnTo>
                <a:lnTo>
                  <a:pt x="7330979" y="1505122"/>
                </a:lnTo>
                <a:lnTo>
                  <a:pt x="7269744" y="1511329"/>
                </a:lnTo>
                <a:lnTo>
                  <a:pt x="7239482" y="1571961"/>
                </a:lnTo>
                <a:lnTo>
                  <a:pt x="7111661" y="1652796"/>
                </a:lnTo>
                <a:lnTo>
                  <a:pt x="7070380" y="1562285"/>
                </a:lnTo>
                <a:lnTo>
                  <a:pt x="6940282" y="1587276"/>
                </a:lnTo>
                <a:lnTo>
                  <a:pt x="6814165" y="1710651"/>
                </a:lnTo>
                <a:lnTo>
                  <a:pt x="6855775" y="1755786"/>
                </a:lnTo>
                <a:lnTo>
                  <a:pt x="6743300" y="1775003"/>
                </a:lnTo>
                <a:lnTo>
                  <a:pt x="6665385" y="1782582"/>
                </a:lnTo>
                <a:lnTo>
                  <a:pt x="6669035" y="1729362"/>
                </a:lnTo>
                <a:lnTo>
                  <a:pt x="6590701" y="1718191"/>
                </a:lnTo>
                <a:lnTo>
                  <a:pt x="6528268" y="1754348"/>
                </a:lnTo>
                <a:lnTo>
                  <a:pt x="6374184" y="1741697"/>
                </a:lnTo>
                <a:lnTo>
                  <a:pt x="6208418" y="1763512"/>
                </a:lnTo>
                <a:lnTo>
                  <a:pt x="6045175" y="1907178"/>
                </a:lnTo>
                <a:lnTo>
                  <a:pt x="5852051" y="2080766"/>
                </a:lnTo>
                <a:lnTo>
                  <a:pt x="5931448" y="2090043"/>
                </a:lnTo>
                <a:lnTo>
                  <a:pt x="5956227" y="2136135"/>
                </a:lnTo>
                <a:lnTo>
                  <a:pt x="6005173" y="2152498"/>
                </a:lnTo>
                <a:lnTo>
                  <a:pt x="6037422" y="2115730"/>
                </a:lnTo>
                <a:lnTo>
                  <a:pt x="6092698" y="2120505"/>
                </a:lnTo>
                <a:lnTo>
                  <a:pt x="6165457" y="2201476"/>
                </a:lnTo>
                <a:lnTo>
                  <a:pt x="6167166" y="2264096"/>
                </a:lnTo>
                <a:lnTo>
                  <a:pt x="6127768" y="2337632"/>
                </a:lnTo>
                <a:lnTo>
                  <a:pt x="6123517" y="2425524"/>
                </a:lnTo>
                <a:lnTo>
                  <a:pt x="6100782" y="2543201"/>
                </a:lnTo>
                <a:lnTo>
                  <a:pt x="6024828" y="2649708"/>
                </a:lnTo>
                <a:lnTo>
                  <a:pt x="6007946" y="2700618"/>
                </a:lnTo>
                <a:lnTo>
                  <a:pt x="5939541" y="2786324"/>
                </a:lnTo>
                <a:lnTo>
                  <a:pt x="5871662" y="2871298"/>
                </a:lnTo>
                <a:lnTo>
                  <a:pt x="5839110" y="2914782"/>
                </a:lnTo>
                <a:lnTo>
                  <a:pt x="5771959" y="2957967"/>
                </a:lnTo>
                <a:lnTo>
                  <a:pt x="5740181" y="2958923"/>
                </a:lnTo>
                <a:lnTo>
                  <a:pt x="5708523" y="2923147"/>
                </a:lnTo>
                <a:lnTo>
                  <a:pt x="5640885" y="2977010"/>
                </a:lnTo>
                <a:lnTo>
                  <a:pt x="5633030" y="3001500"/>
                </a:lnTo>
                <a:lnTo>
                  <a:pt x="5633030" y="3001500"/>
                </a:lnTo>
                <a:lnTo>
                  <a:pt x="5633030" y="3001501"/>
                </a:lnTo>
                <a:lnTo>
                  <a:pt x="5633029" y="3001500"/>
                </a:lnTo>
                <a:lnTo>
                  <a:pt x="5625974" y="2988620"/>
                </a:lnTo>
                <a:lnTo>
                  <a:pt x="5625974" y="2988619"/>
                </a:lnTo>
                <a:lnTo>
                  <a:pt x="5625665" y="2951229"/>
                </a:lnTo>
                <a:lnTo>
                  <a:pt x="5651408" y="2949244"/>
                </a:lnTo>
                <a:lnTo>
                  <a:pt x="5658658" y="2862281"/>
                </a:lnTo>
                <a:lnTo>
                  <a:pt x="5645386" y="2799245"/>
                </a:lnTo>
                <a:lnTo>
                  <a:pt x="5688637" y="2773248"/>
                </a:lnTo>
                <a:lnTo>
                  <a:pt x="5749798" y="2786281"/>
                </a:lnTo>
                <a:lnTo>
                  <a:pt x="5783689" y="2714678"/>
                </a:lnTo>
                <a:lnTo>
                  <a:pt x="5800960" y="2634043"/>
                </a:lnTo>
                <a:lnTo>
                  <a:pt x="5820536" y="2607107"/>
                </a:lnTo>
                <a:lnTo>
                  <a:pt x="5847018" y="2540881"/>
                </a:lnTo>
                <a:lnTo>
                  <a:pt x="5763731" y="2562578"/>
                </a:lnTo>
                <a:lnTo>
                  <a:pt x="5720044" y="2591613"/>
                </a:lnTo>
                <a:lnTo>
                  <a:pt x="5643474" y="2591526"/>
                </a:lnTo>
                <a:lnTo>
                  <a:pt x="5623066" y="2522373"/>
                </a:lnTo>
                <a:lnTo>
                  <a:pt x="5563376" y="2470048"/>
                </a:lnTo>
                <a:lnTo>
                  <a:pt x="5475670" y="2446520"/>
                </a:lnTo>
                <a:lnTo>
                  <a:pt x="5457027" y="2374424"/>
                </a:lnTo>
                <a:lnTo>
                  <a:pt x="5439475" y="2329225"/>
                </a:lnTo>
                <a:lnTo>
                  <a:pt x="5420589" y="2297550"/>
                </a:lnTo>
                <a:lnTo>
                  <a:pt x="5389443" y="2223319"/>
                </a:lnTo>
                <a:lnTo>
                  <a:pt x="5345190" y="2196215"/>
                </a:lnTo>
                <a:lnTo>
                  <a:pt x="5269764" y="2174299"/>
                </a:lnTo>
                <a:lnTo>
                  <a:pt x="5202955" y="2176292"/>
                </a:lnTo>
                <a:lnTo>
                  <a:pt x="5140333" y="2189564"/>
                </a:lnTo>
                <a:lnTo>
                  <a:pt x="5098708" y="2226183"/>
                </a:lnTo>
                <a:lnTo>
                  <a:pt x="5126359" y="2243675"/>
                </a:lnTo>
                <a:lnTo>
                  <a:pt x="5126984" y="2284312"/>
                </a:lnTo>
                <a:lnTo>
                  <a:pt x="5098959" y="2307906"/>
                </a:lnTo>
                <a:lnTo>
                  <a:pt x="5053469" y="2385971"/>
                </a:lnTo>
                <a:lnTo>
                  <a:pt x="5053926" y="2418358"/>
                </a:lnTo>
                <a:lnTo>
                  <a:pt x="4982910" y="2464868"/>
                </a:lnTo>
                <a:lnTo>
                  <a:pt x="4922415" y="2437079"/>
                </a:lnTo>
                <a:lnTo>
                  <a:pt x="4862290" y="2443214"/>
                </a:lnTo>
                <a:lnTo>
                  <a:pt x="4835905" y="2418553"/>
                </a:lnTo>
                <a:lnTo>
                  <a:pt x="4805686" y="2410599"/>
                </a:lnTo>
                <a:lnTo>
                  <a:pt x="4731873" y="2462470"/>
                </a:lnTo>
                <a:lnTo>
                  <a:pt x="4665529" y="2474658"/>
                </a:lnTo>
                <a:lnTo>
                  <a:pt x="4619206" y="2492900"/>
                </a:lnTo>
                <a:lnTo>
                  <a:pt x="4555732" y="2480915"/>
                </a:lnTo>
                <a:lnTo>
                  <a:pt x="4509002" y="2481681"/>
                </a:lnTo>
                <a:lnTo>
                  <a:pt x="4478414" y="2444059"/>
                </a:lnTo>
                <a:lnTo>
                  <a:pt x="4429059" y="2408686"/>
                </a:lnTo>
                <a:lnTo>
                  <a:pt x="4378554" y="2398991"/>
                </a:lnTo>
                <a:lnTo>
                  <a:pt x="4314805" y="2408611"/>
                </a:lnTo>
                <a:lnTo>
                  <a:pt x="4267181" y="2422253"/>
                </a:lnTo>
                <a:lnTo>
                  <a:pt x="4195589" y="2391297"/>
                </a:lnTo>
                <a:lnTo>
                  <a:pt x="4185979" y="2336143"/>
                </a:lnTo>
                <a:lnTo>
                  <a:pt x="4126730" y="2317231"/>
                </a:lnTo>
                <a:lnTo>
                  <a:pt x="4080985" y="2308608"/>
                </a:lnTo>
                <a:lnTo>
                  <a:pt x="4024532" y="2278184"/>
                </a:lnTo>
                <a:lnTo>
                  <a:pt x="3972336" y="2354463"/>
                </a:lnTo>
                <a:lnTo>
                  <a:pt x="3992797" y="2397785"/>
                </a:lnTo>
                <a:lnTo>
                  <a:pt x="3943814" y="2449038"/>
                </a:lnTo>
                <a:lnTo>
                  <a:pt x="3870958" y="2430534"/>
                </a:lnTo>
                <a:lnTo>
                  <a:pt x="3820661" y="2427886"/>
                </a:lnTo>
                <a:lnTo>
                  <a:pt x="3786979" y="2393506"/>
                </a:lnTo>
                <a:lnTo>
                  <a:pt x="3734400" y="2392421"/>
                </a:lnTo>
                <a:lnTo>
                  <a:pt x="3690582" y="2369833"/>
                </a:lnTo>
                <a:lnTo>
                  <a:pt x="3613931" y="2404453"/>
                </a:lnTo>
                <a:lnTo>
                  <a:pt x="3517774" y="2467846"/>
                </a:lnTo>
                <a:lnTo>
                  <a:pt x="3464644" y="2480603"/>
                </a:lnTo>
                <a:lnTo>
                  <a:pt x="3444925" y="2486654"/>
                </a:lnTo>
                <a:lnTo>
                  <a:pt x="3418186" y="2441632"/>
                </a:lnTo>
                <a:lnTo>
                  <a:pt x="3353274" y="2451481"/>
                </a:lnTo>
                <a:lnTo>
                  <a:pt x="3331821" y="2420241"/>
                </a:lnTo>
                <a:lnTo>
                  <a:pt x="3296586" y="2405955"/>
                </a:lnTo>
                <a:lnTo>
                  <a:pt x="3272333" y="2363424"/>
                </a:lnTo>
                <a:lnTo>
                  <a:pt x="3244510" y="2350181"/>
                </a:lnTo>
                <a:lnTo>
                  <a:pt x="3172093" y="2369096"/>
                </a:lnTo>
                <a:lnTo>
                  <a:pt x="3102674" y="2326690"/>
                </a:lnTo>
                <a:lnTo>
                  <a:pt x="3075820" y="2365227"/>
                </a:lnTo>
                <a:lnTo>
                  <a:pt x="2963207" y="2178302"/>
                </a:lnTo>
                <a:lnTo>
                  <a:pt x="2898918" y="2121438"/>
                </a:lnTo>
                <a:lnTo>
                  <a:pt x="2917358" y="2098362"/>
                </a:lnTo>
                <a:lnTo>
                  <a:pt x="2791057" y="2167819"/>
                </a:lnTo>
                <a:lnTo>
                  <a:pt x="2742722" y="2172017"/>
                </a:lnTo>
                <a:lnTo>
                  <a:pt x="2746896" y="2131844"/>
                </a:lnTo>
                <a:lnTo>
                  <a:pt x="2682172" y="2106743"/>
                </a:lnTo>
                <a:lnTo>
                  <a:pt x="2629560" y="2124656"/>
                </a:lnTo>
                <a:lnTo>
                  <a:pt x="2613693" y="2048371"/>
                </a:lnTo>
                <a:lnTo>
                  <a:pt x="2523130" y="2032508"/>
                </a:lnTo>
                <a:lnTo>
                  <a:pt x="2477822" y="2063043"/>
                </a:lnTo>
                <a:lnTo>
                  <a:pt x="2351725" y="2090213"/>
                </a:lnTo>
                <a:lnTo>
                  <a:pt x="2327116" y="2108394"/>
                </a:lnTo>
                <a:lnTo>
                  <a:pt x="2138546" y="2134006"/>
                </a:lnTo>
                <a:lnTo>
                  <a:pt x="2115438" y="2159123"/>
                </a:lnTo>
                <a:lnTo>
                  <a:pt x="2151819" y="2209541"/>
                </a:lnTo>
                <a:lnTo>
                  <a:pt x="2103441" y="2228678"/>
                </a:lnTo>
                <a:lnTo>
                  <a:pt x="2112878" y="2248730"/>
                </a:lnTo>
                <a:lnTo>
                  <a:pt x="2064514" y="2284584"/>
                </a:lnTo>
                <a:lnTo>
                  <a:pt x="2146175" y="2335204"/>
                </a:lnTo>
                <a:lnTo>
                  <a:pt x="2133548" y="2370062"/>
                </a:lnTo>
                <a:lnTo>
                  <a:pt x="2062764" y="2366888"/>
                </a:lnTo>
                <a:lnTo>
                  <a:pt x="2048123" y="2388729"/>
                </a:lnTo>
                <a:lnTo>
                  <a:pt x="1983671" y="2350589"/>
                </a:lnTo>
                <a:lnTo>
                  <a:pt x="1903780" y="2352067"/>
                </a:lnTo>
                <a:lnTo>
                  <a:pt x="1850310" y="2383116"/>
                </a:lnTo>
                <a:lnTo>
                  <a:pt x="1790640" y="2353341"/>
                </a:lnTo>
                <a:lnTo>
                  <a:pt x="1679564" y="2302378"/>
                </a:lnTo>
                <a:lnTo>
                  <a:pt x="1600845" y="2304284"/>
                </a:lnTo>
                <a:lnTo>
                  <a:pt x="1496819" y="2384336"/>
                </a:lnTo>
                <a:lnTo>
                  <a:pt x="1490543" y="2438093"/>
                </a:lnTo>
                <a:lnTo>
                  <a:pt x="1438720" y="2395408"/>
                </a:lnTo>
                <a:lnTo>
                  <a:pt x="1398511" y="2476274"/>
                </a:lnTo>
                <a:lnTo>
                  <a:pt x="1413230" y="2491287"/>
                </a:lnTo>
                <a:lnTo>
                  <a:pt x="1384141" y="2547069"/>
                </a:lnTo>
                <a:lnTo>
                  <a:pt x="1426915" y="2596994"/>
                </a:lnTo>
                <a:lnTo>
                  <a:pt x="1464308" y="2594939"/>
                </a:lnTo>
                <a:lnTo>
                  <a:pt x="1496433" y="2644115"/>
                </a:lnTo>
                <a:lnTo>
                  <a:pt x="1491319" y="2681990"/>
                </a:lnTo>
                <a:lnTo>
                  <a:pt x="1516915" y="2693892"/>
                </a:lnTo>
                <a:close/>
              </a:path>
              <a:path w="8667750" h="3238500">
                <a:moveTo>
                  <a:pt x="3768338" y="145394"/>
                </a:moveTo>
                <a:lnTo>
                  <a:pt x="3877351" y="128775"/>
                </a:lnTo>
                <a:lnTo>
                  <a:pt x="3975264" y="165828"/>
                </a:lnTo>
                <a:lnTo>
                  <a:pt x="4091312" y="236989"/>
                </a:lnTo>
                <a:lnTo>
                  <a:pt x="4078870" y="303172"/>
                </a:lnTo>
                <a:lnTo>
                  <a:pt x="3968919" y="312353"/>
                </a:lnTo>
                <a:lnTo>
                  <a:pt x="3828555" y="291116"/>
                </a:lnTo>
                <a:lnTo>
                  <a:pt x="3744915" y="263018"/>
                </a:lnTo>
                <a:lnTo>
                  <a:pt x="3706239" y="210224"/>
                </a:lnTo>
                <a:lnTo>
                  <a:pt x="3637485" y="195675"/>
                </a:lnTo>
                <a:lnTo>
                  <a:pt x="3768338" y="145394"/>
                </a:lnTo>
                <a:close/>
              </a:path>
              <a:path w="8667750" h="3238500">
                <a:moveTo>
                  <a:pt x="4224914" y="273706"/>
                </a:moveTo>
                <a:lnTo>
                  <a:pt x="4352643" y="315508"/>
                </a:lnTo>
                <a:lnTo>
                  <a:pt x="4337678" y="345424"/>
                </a:lnTo>
                <a:lnTo>
                  <a:pt x="4053591" y="373826"/>
                </a:lnTo>
                <a:lnTo>
                  <a:pt x="4145649" y="277187"/>
                </a:lnTo>
                <a:lnTo>
                  <a:pt x="4187045" y="268913"/>
                </a:lnTo>
                <a:lnTo>
                  <a:pt x="4224914" y="273706"/>
                </a:lnTo>
                <a:close/>
              </a:path>
              <a:path w="8667750" h="3238500">
                <a:moveTo>
                  <a:pt x="6038755" y="505150"/>
                </a:moveTo>
                <a:lnTo>
                  <a:pt x="6171822" y="508379"/>
                </a:lnTo>
                <a:lnTo>
                  <a:pt x="6353979" y="547408"/>
                </a:lnTo>
                <a:lnTo>
                  <a:pt x="6314355" y="602067"/>
                </a:lnTo>
                <a:lnTo>
                  <a:pt x="6128594" y="600029"/>
                </a:lnTo>
                <a:lnTo>
                  <a:pt x="6045022" y="617414"/>
                </a:lnTo>
                <a:lnTo>
                  <a:pt x="5945189" y="569559"/>
                </a:lnTo>
                <a:lnTo>
                  <a:pt x="5972269" y="518957"/>
                </a:lnTo>
                <a:lnTo>
                  <a:pt x="6038755" y="505150"/>
                </a:lnTo>
                <a:close/>
              </a:path>
              <a:path w="8667750" h="3238500">
                <a:moveTo>
                  <a:pt x="6512012" y="563363"/>
                </a:moveTo>
                <a:lnTo>
                  <a:pt x="6638472" y="582631"/>
                </a:lnTo>
                <a:lnTo>
                  <a:pt x="6580229" y="611714"/>
                </a:lnTo>
                <a:lnTo>
                  <a:pt x="6499677" y="605132"/>
                </a:lnTo>
                <a:lnTo>
                  <a:pt x="6406031" y="576086"/>
                </a:lnTo>
                <a:lnTo>
                  <a:pt x="6418090" y="552251"/>
                </a:lnTo>
                <a:lnTo>
                  <a:pt x="6512012" y="563363"/>
                </a:lnTo>
                <a:close/>
              </a:path>
              <a:path w="8667750" h="3238500">
                <a:moveTo>
                  <a:pt x="6090763" y="708802"/>
                </a:moveTo>
                <a:lnTo>
                  <a:pt x="6138567" y="679713"/>
                </a:lnTo>
                <a:lnTo>
                  <a:pt x="6201577" y="672903"/>
                </a:lnTo>
                <a:lnTo>
                  <a:pt x="6273175" y="701043"/>
                </a:lnTo>
                <a:lnTo>
                  <a:pt x="6279273" y="720387"/>
                </a:lnTo>
                <a:lnTo>
                  <a:pt x="6202865" y="720902"/>
                </a:lnTo>
                <a:lnTo>
                  <a:pt x="6099584" y="712697"/>
                </a:lnTo>
                <a:lnTo>
                  <a:pt x="6090763" y="708802"/>
                </a:lnTo>
                <a:close/>
              </a:path>
              <a:path w="8667750" h="3238500">
                <a:moveTo>
                  <a:pt x="1302529" y="177395"/>
                </a:moveTo>
                <a:lnTo>
                  <a:pt x="1400907" y="163992"/>
                </a:lnTo>
                <a:lnTo>
                  <a:pt x="1477472" y="163102"/>
                </a:lnTo>
                <a:lnTo>
                  <a:pt x="1487769" y="182933"/>
                </a:lnTo>
                <a:lnTo>
                  <a:pt x="1516715" y="165312"/>
                </a:lnTo>
                <a:lnTo>
                  <a:pt x="1564215" y="153175"/>
                </a:lnTo>
                <a:lnTo>
                  <a:pt x="1638957" y="169305"/>
                </a:lnTo>
                <a:lnTo>
                  <a:pt x="1619468" y="180526"/>
                </a:lnTo>
                <a:lnTo>
                  <a:pt x="1551814" y="190230"/>
                </a:lnTo>
                <a:lnTo>
                  <a:pt x="1506496" y="195814"/>
                </a:lnTo>
                <a:lnTo>
                  <a:pt x="1499467" y="207892"/>
                </a:lnTo>
                <a:lnTo>
                  <a:pt x="1440566" y="220057"/>
                </a:lnTo>
                <a:lnTo>
                  <a:pt x="1385975" y="202609"/>
                </a:lnTo>
                <a:lnTo>
                  <a:pt x="1414680" y="179632"/>
                </a:lnTo>
                <a:lnTo>
                  <a:pt x="1302529" y="177395"/>
                </a:lnTo>
                <a:close/>
              </a:path>
              <a:path w="8667750" h="3238500">
                <a:moveTo>
                  <a:pt x="188025" y="2110358"/>
                </a:moveTo>
                <a:lnTo>
                  <a:pt x="95358" y="2111463"/>
                </a:lnTo>
                <a:lnTo>
                  <a:pt x="33292" y="2103105"/>
                </a:lnTo>
                <a:lnTo>
                  <a:pt x="44774" y="2070715"/>
                </a:lnTo>
                <a:lnTo>
                  <a:pt x="114316" y="2046844"/>
                </a:lnTo>
                <a:lnTo>
                  <a:pt x="167092" y="2059738"/>
                </a:lnTo>
                <a:lnTo>
                  <a:pt x="189368" y="2071420"/>
                </a:lnTo>
                <a:lnTo>
                  <a:pt x="183991" y="2091575"/>
                </a:lnTo>
                <a:lnTo>
                  <a:pt x="188025" y="2110358"/>
                </a:lnTo>
                <a:close/>
              </a:path>
              <a:path w="8667750" h="3238500">
                <a:moveTo>
                  <a:pt x="1739007" y="680835"/>
                </a:moveTo>
                <a:lnTo>
                  <a:pt x="1859659" y="616236"/>
                </a:lnTo>
                <a:lnTo>
                  <a:pt x="1846026" y="582826"/>
                </a:lnTo>
                <a:lnTo>
                  <a:pt x="1958742" y="543966"/>
                </a:lnTo>
                <a:lnTo>
                  <a:pt x="2125113" y="496677"/>
                </a:lnTo>
                <a:lnTo>
                  <a:pt x="2292840" y="482900"/>
                </a:lnTo>
                <a:lnTo>
                  <a:pt x="2379145" y="455614"/>
                </a:lnTo>
                <a:lnTo>
                  <a:pt x="2477216" y="446052"/>
                </a:lnTo>
                <a:lnTo>
                  <a:pt x="2512247" y="475117"/>
                </a:lnTo>
                <a:lnTo>
                  <a:pt x="2478401" y="498019"/>
                </a:lnTo>
                <a:lnTo>
                  <a:pt x="2299843" y="534518"/>
                </a:lnTo>
                <a:lnTo>
                  <a:pt x="2145949" y="569616"/>
                </a:lnTo>
                <a:lnTo>
                  <a:pt x="1989404" y="639673"/>
                </a:lnTo>
                <a:lnTo>
                  <a:pt x="1914302" y="711510"/>
                </a:lnTo>
                <a:lnTo>
                  <a:pt x="1835312" y="782299"/>
                </a:lnTo>
                <a:lnTo>
                  <a:pt x="1845567" y="843438"/>
                </a:lnTo>
                <a:lnTo>
                  <a:pt x="1941964" y="903802"/>
                </a:lnTo>
                <a:lnTo>
                  <a:pt x="1912195" y="910258"/>
                </a:lnTo>
                <a:lnTo>
                  <a:pt x="1747528" y="900696"/>
                </a:lnTo>
                <a:lnTo>
                  <a:pt x="1734156" y="868016"/>
                </a:lnTo>
                <a:lnTo>
                  <a:pt x="1642936" y="848284"/>
                </a:lnTo>
                <a:lnTo>
                  <a:pt x="1635572" y="808530"/>
                </a:lnTo>
                <a:lnTo>
                  <a:pt x="1687101" y="792738"/>
                </a:lnTo>
                <a:lnTo>
                  <a:pt x="1685382" y="752603"/>
                </a:lnTo>
                <a:lnTo>
                  <a:pt x="1785335" y="689834"/>
                </a:lnTo>
                <a:lnTo>
                  <a:pt x="1739007" y="680835"/>
                </a:lnTo>
                <a:close/>
              </a:path>
              <a:path w="8667750" h="3238500">
                <a:moveTo>
                  <a:pt x="6244540" y="2156210"/>
                </a:moveTo>
                <a:lnTo>
                  <a:pt x="6261988" y="2227149"/>
                </a:lnTo>
                <a:lnTo>
                  <a:pt x="6260699" y="2299581"/>
                </a:lnTo>
                <a:lnTo>
                  <a:pt x="6281499" y="2373850"/>
                </a:lnTo>
                <a:lnTo>
                  <a:pt x="6332202" y="2504215"/>
                </a:lnTo>
                <a:lnTo>
                  <a:pt x="6257608" y="2479914"/>
                </a:lnTo>
                <a:lnTo>
                  <a:pt x="6226603" y="2586268"/>
                </a:lnTo>
                <a:lnTo>
                  <a:pt x="6275728" y="2661699"/>
                </a:lnTo>
                <a:lnTo>
                  <a:pt x="6274306" y="2713134"/>
                </a:lnTo>
                <a:lnTo>
                  <a:pt x="6236129" y="2668762"/>
                </a:lnTo>
                <a:lnTo>
                  <a:pt x="6203087" y="2725731"/>
                </a:lnTo>
                <a:lnTo>
                  <a:pt x="6193759" y="2663966"/>
                </a:lnTo>
                <a:lnTo>
                  <a:pt x="6199379" y="2592262"/>
                </a:lnTo>
                <a:lnTo>
                  <a:pt x="6193634" y="2512841"/>
                </a:lnTo>
                <a:lnTo>
                  <a:pt x="6205293" y="2457200"/>
                </a:lnTo>
                <a:lnTo>
                  <a:pt x="6207519" y="2358780"/>
                </a:lnTo>
                <a:lnTo>
                  <a:pt x="6177993" y="2286423"/>
                </a:lnTo>
                <a:lnTo>
                  <a:pt x="6182451" y="2185843"/>
                </a:lnTo>
                <a:lnTo>
                  <a:pt x="6229035" y="2151973"/>
                </a:lnTo>
                <a:lnTo>
                  <a:pt x="6209019" y="2117870"/>
                </a:lnTo>
                <a:lnTo>
                  <a:pt x="6231446" y="2107536"/>
                </a:lnTo>
                <a:lnTo>
                  <a:pt x="6244540" y="2156210"/>
                </a:lnTo>
                <a:close/>
              </a:path>
              <a:path w="8667750" h="3238500">
                <a:moveTo>
                  <a:pt x="8369002" y="1162482"/>
                </a:moveTo>
                <a:lnTo>
                  <a:pt x="8364669" y="1208229"/>
                </a:lnTo>
                <a:lnTo>
                  <a:pt x="8398655" y="1226541"/>
                </a:lnTo>
                <a:lnTo>
                  <a:pt x="8386964" y="1173059"/>
                </a:lnTo>
                <a:lnTo>
                  <a:pt x="8523759" y="1184034"/>
                </a:lnTo>
                <a:lnTo>
                  <a:pt x="8622417" y="1252914"/>
                </a:lnTo>
                <a:lnTo>
                  <a:pt x="8572452" y="1284993"/>
                </a:lnTo>
                <a:lnTo>
                  <a:pt x="8489847" y="1292610"/>
                </a:lnTo>
                <a:lnTo>
                  <a:pt x="8488600" y="1364528"/>
                </a:lnTo>
                <a:lnTo>
                  <a:pt x="8468426" y="1379845"/>
                </a:lnTo>
                <a:lnTo>
                  <a:pt x="8421231" y="1377643"/>
                </a:lnTo>
                <a:lnTo>
                  <a:pt x="8382827" y="1351982"/>
                </a:lnTo>
                <a:lnTo>
                  <a:pt x="8315823" y="1330517"/>
                </a:lnTo>
                <a:lnTo>
                  <a:pt x="8304553" y="1298589"/>
                </a:lnTo>
                <a:lnTo>
                  <a:pt x="8253378" y="1286550"/>
                </a:lnTo>
                <a:lnTo>
                  <a:pt x="8196067" y="1296098"/>
                </a:lnTo>
                <a:lnTo>
                  <a:pt x="8168683" y="1270343"/>
                </a:lnTo>
                <a:lnTo>
                  <a:pt x="8179629" y="1242987"/>
                </a:lnTo>
                <a:lnTo>
                  <a:pt x="8119274" y="1260471"/>
                </a:lnTo>
                <a:lnTo>
                  <a:pt x="8142007" y="1295097"/>
                </a:lnTo>
                <a:lnTo>
                  <a:pt x="8113417" y="1326334"/>
                </a:lnTo>
                <a:lnTo>
                  <a:pt x="8113417" y="1033108"/>
                </a:lnTo>
                <a:lnTo>
                  <a:pt x="8236882" y="1089314"/>
                </a:lnTo>
                <a:lnTo>
                  <a:pt x="8369002" y="1162482"/>
                </a:lnTo>
                <a:close/>
              </a:path>
              <a:path w="8667750" h="3238500">
                <a:moveTo>
                  <a:pt x="8179243" y="891101"/>
                </a:moveTo>
                <a:lnTo>
                  <a:pt x="8113417" y="895578"/>
                </a:lnTo>
                <a:lnTo>
                  <a:pt x="8113417" y="845270"/>
                </a:lnTo>
                <a:lnTo>
                  <a:pt x="8119874" y="842185"/>
                </a:lnTo>
                <a:lnTo>
                  <a:pt x="8162585" y="842339"/>
                </a:lnTo>
                <a:lnTo>
                  <a:pt x="8235474" y="863393"/>
                </a:lnTo>
                <a:lnTo>
                  <a:pt x="8231159" y="873455"/>
                </a:lnTo>
                <a:lnTo>
                  <a:pt x="8179243" y="891101"/>
                </a:lnTo>
                <a:close/>
              </a:path>
              <a:path w="8667750" h="3238500">
                <a:moveTo>
                  <a:pt x="727486" y="2725351"/>
                </a:moveTo>
                <a:lnTo>
                  <a:pt x="740763" y="2707123"/>
                </a:lnTo>
                <a:lnTo>
                  <a:pt x="776590" y="2722904"/>
                </a:lnTo>
                <a:lnTo>
                  <a:pt x="792798" y="2725811"/>
                </a:lnTo>
                <a:lnTo>
                  <a:pt x="799337" y="2740346"/>
                </a:lnTo>
                <a:lnTo>
                  <a:pt x="806940" y="2742588"/>
                </a:lnTo>
                <a:lnTo>
                  <a:pt x="807350" y="2748955"/>
                </a:lnTo>
                <a:lnTo>
                  <a:pt x="832004" y="2766710"/>
                </a:lnTo>
                <a:lnTo>
                  <a:pt x="883405" y="2762294"/>
                </a:lnTo>
                <a:lnTo>
                  <a:pt x="873564" y="2788553"/>
                </a:lnTo>
                <a:lnTo>
                  <a:pt x="818397" y="2801303"/>
                </a:lnTo>
                <a:lnTo>
                  <a:pt x="749988" y="2843883"/>
                </a:lnTo>
                <a:lnTo>
                  <a:pt x="721964" y="2828912"/>
                </a:lnTo>
                <a:lnTo>
                  <a:pt x="733076" y="2794327"/>
                </a:lnTo>
                <a:lnTo>
                  <a:pt x="678008" y="2772784"/>
                </a:lnTo>
                <a:lnTo>
                  <a:pt x="686909" y="2758673"/>
                </a:lnTo>
                <a:lnTo>
                  <a:pt x="735154" y="2734209"/>
                </a:lnTo>
                <a:lnTo>
                  <a:pt x="727486" y="2725351"/>
                </a:lnTo>
                <a:close/>
              </a:path>
            </a:pathLst>
          </a:custGeom>
          <a:solidFill>
            <a:srgbClr val="39347A">
              <a:alpha val="70000"/>
            </a:srgbClr>
          </a:solidFill>
          <a:ln w="9525">
            <a:solidFill>
              <a:srgbClr val="8E86CD">
                <a:alpha val="50000"/>
              </a:srgbClr>
            </a:solidFill>
          </a:ln>
        </p:spPr>
      </p:sp>
      <p:sp>
        <p:nv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9496526C-0555-48CA-A86E-82C2404FD324}"/>
              </a:ext>
            </a:extLst>
          </p:cNvPr>
          <p:cNvSpPr>
            <a:spLocks noGrp="1"/>
          </p:cNvSpPr>
          <p:nvPr/>
        </p:nvSpPr>
        <p:spPr>
          <a:xfrm flipV="1">
            <a:off x="1624134" y="4860218"/>
            <a:ext cx="579026" cy="2944"/>
          </a:xfrm>
          <a:prstGeom prst="line">
            <a:avLst/>
          </a:prstGeom>
          <a:noFill/>
          <a:ln w="38100">
            <a:solidFill>
              <a:srgbClr val="BE91D9"/>
            </a:solidFill>
          </a:ln>
        </p:spPr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E46C3C40-2E57-4FB3-8D7B-80F1BBF44734}"/>
              </a:ext>
            </a:extLst>
          </p:cNvPr>
          <p:cNvSpPr>
            <a:spLocks noGrp="1"/>
          </p:cNvSpPr>
          <p:nvPr/>
        </p:nvSpPr>
        <p:spPr>
          <a:xfrm>
            <a:off x="1557459" y="4796487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BE91D9"/>
          </a:solidFill>
          <a:ln w="9525">
            <a:solidFill>
              <a:srgbClr val="FFFFFF"/>
            </a:solidFill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45F0A053-1A27-484B-B54C-AB9346609419}"/>
              </a:ext>
            </a:extLst>
          </p:cNvPr>
          <p:cNvSpPr>
            <a:spLocks noGrp="1"/>
          </p:cNvSpPr>
          <p:nvPr/>
        </p:nvSpPr>
        <p:spPr>
          <a:xfrm>
            <a:off x="919284" y="5120337"/>
            <a:ext cx="17145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Москва</a:t>
            </a: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8B805665-7416-4497-808D-CC597049B29D}"/>
              </a:ext>
            </a:extLst>
          </p:cNvPr>
          <p:cNvSpPr>
            <a:spLocks noGrp="1"/>
          </p:cNvSpPr>
          <p:nvPr/>
        </p:nvSpPr>
        <p:spPr>
          <a:xfrm>
            <a:off x="2136485" y="4793543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BE91D9"/>
          </a:solidFill>
          <a:ln w="9525">
            <a:solidFill>
              <a:srgbClr val="FFFFFF"/>
            </a:solidFill>
          </a:ln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C44D9A18-0593-4575-A8DF-B4ACD8E2A35A}"/>
              </a:ext>
            </a:extLst>
          </p:cNvPr>
          <p:cNvSpPr>
            <a:spLocks noGrp="1"/>
          </p:cNvSpPr>
          <p:nvPr/>
        </p:nvSpPr>
        <p:spPr>
          <a:xfrm>
            <a:off x="2346035" y="4393493"/>
            <a:ext cx="17145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Казань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43434F8E-8897-4C43-BEFE-AB2EE575CF31}"/>
              </a:ext>
            </a:extLst>
          </p:cNvPr>
          <p:cNvSpPr>
            <a:spLocks noGrp="1"/>
          </p:cNvSpPr>
          <p:nvPr/>
        </p:nvSpPr>
        <p:spPr>
          <a:xfrm>
            <a:off x="9906000" y="2486025"/>
            <a:ext cx="4648200" cy="4457700"/>
          </a:xfrm>
          <a:prstGeom prst="roundRect">
            <a:avLst>
              <a:gd name="adj" fmla="val 5128"/>
            </a:avLst>
          </a:prstGeom>
          <a:gradFill>
            <a:gsLst>
              <a:gs pos="0">
                <a:srgbClr val="25255A">
                  <a:alpha val="80000"/>
                </a:srgbClr>
              </a:gs>
              <a:gs pos="100000">
                <a:srgbClr val="14102F">
                  <a:alpha val="75000"/>
                </a:srgbClr>
              </a:gs>
            </a:gsLst>
            <a:lin ang="7800000"/>
          </a:gradFill>
          <a:ln w="9525">
            <a:solidFill>
              <a:srgbClr val="B7B5F0">
                <a:alpha val="20000"/>
              </a:srgbClr>
            </a:solidFill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7BBD6C08-12E9-438F-88C2-A1D57387B9A1}"/>
              </a:ext>
            </a:extLst>
          </p:cNvPr>
          <p:cNvSpPr>
            <a:spLocks noGrp="1"/>
          </p:cNvSpPr>
          <p:nvPr/>
        </p:nvSpPr>
        <p:spPr>
          <a:xfrm>
            <a:off x="10210800" y="2800350"/>
            <a:ext cx="4038600" cy="53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32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18–35 лет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7CDE0EE4-3395-4139-A25D-1A2EB46E7F40}"/>
              </a:ext>
            </a:extLst>
          </p:cNvPr>
          <p:cNvSpPr>
            <a:spLocks noGrp="1"/>
          </p:cNvSpPr>
          <p:nvPr/>
        </p:nvSpPr>
        <p:spPr>
          <a:xfrm>
            <a:off x="10210800" y="3467100"/>
            <a:ext cx="4038600" cy="695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950" b="0">
                <a:solidFill>
                  <a:srgbClr val="B2B5D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B2B5D5"/>
                </a:solidFill>
                <a:latin typeface="Helvetica Neue"/>
                <a:ea typeface="Helvetica Neue"/>
                <a:cs typeface="Helvetica Neue"/>
              </a:rPr>
              <a:t>Самостоятельные путешественники</a:t>
            </a:r>
          </a:p>
          <a:p>
            <a:pPr algn="l">
              <a:defRPr sz="1950" b="0">
                <a:solidFill>
                  <a:srgbClr val="B2B5D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B2B5D5"/>
                </a:solidFill>
                <a:latin typeface="Helvetica Neue"/>
                <a:ea typeface="Helvetica Neue"/>
                <a:cs typeface="Helvetica Neue"/>
              </a:rPr>
              <a:t>и потенциальные хозяева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EE54C341-6C6E-41DE-8772-AF202867A022}"/>
              </a:ext>
            </a:extLst>
          </p:cNvPr>
          <p:cNvSpPr>
            <a:spLocks noGrp="1"/>
          </p:cNvSpPr>
          <p:nvPr/>
        </p:nvSpPr>
        <p:spPr>
          <a:xfrm>
            <a:off x="10210800" y="4486275"/>
            <a:ext cx="4038600" cy="53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3225" b="1">
                <a:solidFill>
                  <a:srgbClr val="BE91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BE91D9"/>
                </a:solidFill>
                <a:latin typeface="Helvetica Neue"/>
                <a:ea typeface="Helvetica Neue"/>
                <a:cs typeface="Helvetica Neue"/>
              </a:rPr>
              <a:t>2–4 недели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362A258B-7865-44D6-B33A-AA4A6D2657D1}"/>
              </a:ext>
            </a:extLst>
          </p:cNvPr>
          <p:cNvSpPr>
            <a:spLocks noGrp="1"/>
          </p:cNvSpPr>
          <p:nvPr/>
        </p:nvSpPr>
        <p:spPr>
          <a:xfrm>
            <a:off x="10210800" y="5314950"/>
            <a:ext cx="4038600" cy="1190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Студенческие сообщества</a:t>
            </a:r>
          </a:p>
          <a:p>
            <a:pPr algn="l"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Туристические сообщества</a:t>
            </a:r>
          </a:p>
          <a:p>
            <a:pPr algn="l"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Аудитория MAX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1E0E5553-5A72-4EF4-9867-068FAB221219}"/>
              </a:ext>
            </a:extLst>
          </p:cNvPr>
          <p:cNvSpPr>
            <a:spLocks noGrp="1"/>
          </p:cNvSpPr>
          <p:nvPr/>
        </p:nvSpPr>
        <p:spPr>
          <a:xfrm>
            <a:off x="685800" y="6772275"/>
            <a:ext cx="8734425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Проверяем, возникает ли локальная сеть</a:t>
            </a:r>
          </a:p>
        </p:txBody>
      </p:sp>
    </p:spTree>
    <p:extLst>
      <p:ext uri="{BB962C8B-B14F-4D97-AF65-F5344CB8AC3E}">
        <p14:creationId xmlns:p14="http://schemas.microsoft.com/office/powerpoint/2010/main" val="18117702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6071C"/>
            </a:gs>
            <a:gs pos="58000">
              <a:srgbClr val="090B27"/>
            </a:gs>
            <a:gs pos="100000">
              <a:srgbClr val="14104F"/>
            </a:gs>
          </a:gsLst>
          <a:lin ang="15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461C10A4-9C08-4905-938C-665DE0ACD2FC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23825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350" b="1">
                <a:solidFill>
                  <a:srgbClr val="BE91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BE91D9"/>
                </a:solidFill>
                <a:latin typeface="Helvetica Neue"/>
                <a:ea typeface="Helvetica Neue"/>
                <a:cs typeface="Helvetica Neue"/>
              </a:rPr>
              <a:t>МАСШТАБИРОВАНИЕ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2A370AC-2B38-4B55-BD0B-B7313EF644F9}"/>
              </a:ext>
            </a:extLst>
          </p:cNvPr>
          <p:cNvSpPr>
            <a:spLocks noGrp="1"/>
          </p:cNvSpPr>
          <p:nvPr/>
        </p:nvSpPr>
        <p:spPr>
          <a:xfrm>
            <a:off x="685800" y="904875"/>
            <a:ext cx="13868400" cy="1428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От одной пары городов к сети</a:t>
            </a:r>
          </a:p>
        </p:txBody>
      </p:sp>
      <p:sp>
        <p:nv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66096DDE-7EDF-46C2-88ED-5D16DE8EA661}"/>
              </a:ext>
            </a:extLst>
          </p:cNvPr>
          <p:cNvSpPr>
            <a:spLocks noGrp="1"/>
          </p:cNvSpPr>
          <p:nvPr/>
        </p:nvSpPr>
        <p:spPr>
          <a:xfrm>
            <a:off x="685800" y="8001000"/>
            <a:ext cx="13868400" cy="0"/>
          </a:xfrm>
          <a:prstGeom prst="line">
            <a:avLst/>
          </a:prstGeom>
          <a:noFill/>
          <a:ln w="9525">
            <a:solidFill>
              <a:srgbClr val="FFFFFF">
                <a:alpha val="12000"/>
              </a:srgbClr>
            </a:solidFill>
          </a:ln>
        </p:spPr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C09263B0-0315-499C-B9B2-10432B31A716}"/>
              </a:ext>
            </a:extLst>
          </p:cNvPr>
          <p:cNvSpPr>
            <a:spLocks noGrp="1"/>
          </p:cNvSpPr>
          <p:nvPr/>
        </p:nvSpPr>
        <p:spPr>
          <a:xfrm>
            <a:off x="685800" y="8153400"/>
            <a:ext cx="80962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125" b="0">
                <a:solidFill>
                  <a:srgbClr val="B2B5D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B2B5D5"/>
                </a:solidFill>
                <a:latin typeface="Helvetica Neue"/>
                <a:ea typeface="Helvetica Neue"/>
                <a:cs typeface="Helvetica Neue"/>
              </a:rPr>
              <a:t>HOSPITALITY EXCHANGE / MAX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F77D682-55D9-4CA1-9A8B-73CFC78A6DEF}"/>
              </a:ext>
            </a:extLst>
          </p:cNvPr>
          <p:cNvSpPr>
            <a:spLocks noGrp="1"/>
          </p:cNvSpPr>
          <p:nvPr/>
        </p:nvSpPr>
        <p:spPr>
          <a:xfrm>
            <a:off x="13887450" y="8115300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500" b="0">
                <a:solidFill>
                  <a:srgbClr val="B2B5D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B2B5D5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BB60FE7C-2DA8-4C29-AB55-63375DF408CA}"/>
              </a:ext>
            </a:extLst>
          </p:cNvPr>
          <p:cNvSpPr>
            <a:spLocks noGrp="1"/>
          </p:cNvSpPr>
          <p:nvPr/>
        </p:nvSpPr>
        <p:spPr>
          <a:xfrm>
            <a:off x="685800" y="2371725"/>
            <a:ext cx="7381875" cy="838200"/>
          </a:xfrm>
          <a:prstGeom prst="roundRect">
            <a:avLst>
              <a:gd name="adj" fmla="val 27273"/>
            </a:avLst>
          </a:prstGeom>
          <a:gradFill>
            <a:gsLst>
              <a:gs pos="0">
                <a:srgbClr val="374AF3"/>
              </a:gs>
              <a:gs pos="48000">
                <a:srgbClr val="554DDE"/>
              </a:gs>
              <a:gs pos="100000">
                <a:srgbClr val="62047B"/>
              </a:gs>
            </a:gsLst>
            <a:lin ang="1500000"/>
          </a:gradFill>
          <a:ln w="9525">
            <a:solidFill>
              <a:srgbClr val="8C82F4">
                <a:alpha val="70000"/>
              </a:srgbClr>
            </a:solidFill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74B22646-28F0-4876-86DF-EAD908A11FE2}"/>
              </a:ext>
            </a:extLst>
          </p:cNvPr>
          <p:cNvSpPr>
            <a:spLocks noGrp="1"/>
          </p:cNvSpPr>
          <p:nvPr/>
        </p:nvSpPr>
        <p:spPr>
          <a:xfrm>
            <a:off x="876300" y="2552700"/>
            <a:ext cx="7000875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Москва ↔ Казань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EE025176-74D9-41B6-94CF-8E52E62D950B}"/>
              </a:ext>
            </a:extLst>
          </p:cNvPr>
          <p:cNvSpPr>
            <a:spLocks noGrp="1"/>
          </p:cNvSpPr>
          <p:nvPr/>
        </p:nvSpPr>
        <p:spPr>
          <a:xfrm>
            <a:off x="8543925" y="2562225"/>
            <a:ext cx="7620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00" b="1">
                <a:solidFill>
                  <a:srgbClr val="BE91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BE91D9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88F12442-FDF6-4AE4-8C60-8B7F4E707F35}"/>
              </a:ext>
            </a:extLst>
          </p:cNvPr>
          <p:cNvSpPr>
            <a:spLocks noGrp="1"/>
          </p:cNvSpPr>
          <p:nvPr/>
        </p:nvSpPr>
        <p:spPr>
          <a:xfrm>
            <a:off x="685800" y="3581400"/>
            <a:ext cx="7381875" cy="838200"/>
          </a:xfrm>
          <a:prstGeom prst="roundRect">
            <a:avLst>
              <a:gd name="adj" fmla="val 27273"/>
            </a:avLst>
          </a:prstGeom>
          <a:gradFill>
            <a:gsLst>
              <a:gs pos="0">
                <a:srgbClr val="25255A">
                  <a:alpha val="80000"/>
                </a:srgbClr>
              </a:gs>
              <a:gs pos="100000">
                <a:srgbClr val="14102F">
                  <a:alpha val="75000"/>
                </a:srgbClr>
              </a:gs>
            </a:gsLst>
            <a:lin ang="7800000"/>
          </a:gradFill>
          <a:ln w="9525">
            <a:solidFill>
              <a:srgbClr val="B7B5F0">
                <a:alpha val="20000"/>
              </a:srgbClr>
            </a:solidFill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5D4333FD-A3F1-425A-94DD-72FED06CC5F6}"/>
              </a:ext>
            </a:extLst>
          </p:cNvPr>
          <p:cNvSpPr>
            <a:spLocks noGrp="1"/>
          </p:cNvSpPr>
          <p:nvPr/>
        </p:nvSpPr>
        <p:spPr>
          <a:xfrm>
            <a:off x="876300" y="3762375"/>
            <a:ext cx="7000875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Москва ↔ Санкт-Петербург</a:t>
            </a:r>
          </a:p>
        </p:txBody>
      </p:sp>
      <p:cxnSp>
        <p:nvCxnSpPr>
          <p:cNvPr id="33" name="Прямая со стрелкой 32"/>
          <p:cNvCxnSpPr>
            <a:stCxn id="6" idx="2"/>
            <a:endCxn id="9" idx="0"/>
          </p:cNvCxnSpPr>
          <p:nvPr/>
        </p:nvCxnSpPr>
        <p:spPr>
          <a:xfrm>
            <a:off x="4376738" y="3209925"/>
            <a:ext cx="0" cy="371475"/>
          </a:xfrm>
          <a:prstGeom prst="straightConnector1">
            <a:avLst/>
          </a:prstGeom>
          <a:ln w="19050">
            <a:solidFill>
              <a:srgbClr val="9A8FFA"/>
            </a:solidFill>
            <a:tailEnd type="triangle" w="sm" len="sm"/>
          </a:ln>
        </p:spPr>
      </p:cxn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2E7AC6C0-0439-43E1-8F7D-220B74C7B246}"/>
              </a:ext>
            </a:extLst>
          </p:cNvPr>
          <p:cNvSpPr>
            <a:spLocks noGrp="1"/>
          </p:cNvSpPr>
          <p:nvPr/>
        </p:nvSpPr>
        <p:spPr>
          <a:xfrm>
            <a:off x="8543925" y="3771900"/>
            <a:ext cx="7620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00" b="1">
                <a:solidFill>
                  <a:srgbClr val="BE91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BE91D9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32E9C858-C453-44B0-A6DF-1F06D221E96D}"/>
              </a:ext>
            </a:extLst>
          </p:cNvPr>
          <p:cNvSpPr>
            <a:spLocks noGrp="1"/>
          </p:cNvSpPr>
          <p:nvPr/>
        </p:nvSpPr>
        <p:spPr>
          <a:xfrm>
            <a:off x="685800" y="4791075"/>
            <a:ext cx="7381875" cy="838200"/>
          </a:xfrm>
          <a:prstGeom prst="roundRect">
            <a:avLst>
              <a:gd name="adj" fmla="val 27273"/>
            </a:avLst>
          </a:prstGeom>
          <a:gradFill>
            <a:gsLst>
              <a:gs pos="0">
                <a:srgbClr val="25255A">
                  <a:alpha val="80000"/>
                </a:srgbClr>
              </a:gs>
              <a:gs pos="100000">
                <a:srgbClr val="14102F">
                  <a:alpha val="75000"/>
                </a:srgbClr>
              </a:gs>
            </a:gsLst>
            <a:lin ang="7800000"/>
          </a:gradFill>
          <a:ln w="9525">
            <a:solidFill>
              <a:srgbClr val="B7B5F0">
                <a:alpha val="20000"/>
              </a:srgbClr>
            </a:solidFill>
          </a:ln>
        </p:spPr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521F6FCF-D11C-4074-BD02-E2898060C11A}"/>
              </a:ext>
            </a:extLst>
          </p:cNvPr>
          <p:cNvSpPr>
            <a:spLocks noGrp="1"/>
          </p:cNvSpPr>
          <p:nvPr/>
        </p:nvSpPr>
        <p:spPr>
          <a:xfrm>
            <a:off x="876300" y="4972050"/>
            <a:ext cx="7000875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Москва ↔ Нижний Новгород</a:t>
            </a:r>
          </a:p>
        </p:txBody>
      </p:sp>
      <p:cxnSp>
        <p:nvCxnSpPr>
          <p:cNvPr id="37" name="Прямая со стрелкой 36"/>
          <p:cNvCxnSpPr>
            <a:stCxn id="9" idx="2"/>
            <a:endCxn id="13" idx="0"/>
          </p:cNvCxnSpPr>
          <p:nvPr/>
        </p:nvCxnSpPr>
        <p:spPr>
          <a:xfrm>
            <a:off x="4376738" y="4419600"/>
            <a:ext cx="0" cy="371475"/>
          </a:xfrm>
          <a:prstGeom prst="straightConnector1">
            <a:avLst/>
          </a:prstGeom>
          <a:ln w="19050">
            <a:solidFill>
              <a:srgbClr val="9A8FFA"/>
            </a:solidFill>
            <a:tailEnd type="triangle" w="sm" len="sm"/>
          </a:ln>
        </p:spPr>
      </p:cxn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EE860C8A-3079-44A7-A13B-C17AD086C691}"/>
              </a:ext>
            </a:extLst>
          </p:cNvPr>
          <p:cNvSpPr>
            <a:spLocks noGrp="1"/>
          </p:cNvSpPr>
          <p:nvPr/>
        </p:nvSpPr>
        <p:spPr>
          <a:xfrm>
            <a:off x="8543925" y="4981575"/>
            <a:ext cx="7620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00" b="1">
                <a:solidFill>
                  <a:srgbClr val="BE91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BE91D9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C40B9CF6-F5BE-4F00-9015-4DE06928939C}"/>
              </a:ext>
            </a:extLst>
          </p:cNvPr>
          <p:cNvSpPr>
            <a:spLocks noGrp="1"/>
          </p:cNvSpPr>
          <p:nvPr/>
        </p:nvSpPr>
        <p:spPr>
          <a:xfrm>
            <a:off x="685800" y="6000750"/>
            <a:ext cx="7381875" cy="838200"/>
          </a:xfrm>
          <a:prstGeom prst="roundRect">
            <a:avLst>
              <a:gd name="adj" fmla="val 27273"/>
            </a:avLst>
          </a:prstGeom>
          <a:gradFill>
            <a:gsLst>
              <a:gs pos="0">
                <a:srgbClr val="25255A">
                  <a:alpha val="80000"/>
                </a:srgbClr>
              </a:gs>
              <a:gs pos="100000">
                <a:srgbClr val="14102F">
                  <a:alpha val="75000"/>
                </a:srgbClr>
              </a:gs>
            </a:gsLst>
            <a:lin ang="7800000"/>
          </a:gradFill>
          <a:ln w="9525">
            <a:solidFill>
              <a:srgbClr val="B7B5F0">
                <a:alpha val="20000"/>
              </a:srgbClr>
            </a:solidFill>
          </a:ln>
        </p:spPr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E25AFF28-81BD-4B68-8A59-A1D1B2E4C14B}"/>
              </a:ext>
            </a:extLst>
          </p:cNvPr>
          <p:cNvSpPr>
            <a:spLocks noGrp="1"/>
          </p:cNvSpPr>
          <p:nvPr/>
        </p:nvSpPr>
        <p:spPr>
          <a:xfrm>
            <a:off x="876300" y="6181725"/>
            <a:ext cx="7000875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Другие города</a:t>
            </a:r>
          </a:p>
        </p:txBody>
      </p:sp>
      <p:cxnSp>
        <p:nvCxnSpPr>
          <p:cNvPr id="41" name="Прямая со стрелкой 40"/>
          <p:cNvCxnSpPr>
            <a:stCxn id="13" idx="2"/>
            <a:endCxn id="17" idx="0"/>
          </p:cNvCxnSpPr>
          <p:nvPr/>
        </p:nvCxnSpPr>
        <p:spPr>
          <a:xfrm>
            <a:off x="4376738" y="5629275"/>
            <a:ext cx="0" cy="371475"/>
          </a:xfrm>
          <a:prstGeom prst="straightConnector1">
            <a:avLst/>
          </a:prstGeom>
          <a:ln w="19050">
            <a:solidFill>
              <a:srgbClr val="9A8FFA"/>
            </a:solidFill>
            <a:tailEnd type="triangle" w="sm" len="sm"/>
          </a:ln>
        </p:spPr>
      </p:cxn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804BD068-8AC9-414D-984F-A9F49F67B94F}"/>
              </a:ext>
            </a:extLst>
          </p:cNvPr>
          <p:cNvSpPr>
            <a:spLocks noGrp="1"/>
          </p:cNvSpPr>
          <p:nvPr/>
        </p:nvSpPr>
        <p:spPr>
          <a:xfrm>
            <a:off x="8543925" y="6191250"/>
            <a:ext cx="7620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00" b="1">
                <a:solidFill>
                  <a:srgbClr val="BE91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BE91D9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DA49BFA4-FA39-4DFB-89DF-007B7E215E4D}"/>
              </a:ext>
            </a:extLst>
          </p:cNvPr>
          <p:cNvSpPr>
            <a:spLocks noGrp="1"/>
          </p:cNvSpPr>
          <p:nvPr/>
        </p:nvSpPr>
        <p:spPr>
          <a:xfrm>
            <a:off x="9906000" y="3143250"/>
            <a:ext cx="4648200" cy="1552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38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8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Масштабируем</a:t>
            </a:r>
          </a:p>
          <a:p>
            <a:pPr algn="l">
              <a:defRPr sz="38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8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плотность сети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E85A0C00-477F-4F4A-9A95-DB03AE27D569}"/>
              </a:ext>
            </a:extLst>
          </p:cNvPr>
          <p:cNvSpPr>
            <a:spLocks noGrp="1"/>
          </p:cNvSpPr>
          <p:nvPr/>
        </p:nvSpPr>
        <p:spPr>
          <a:xfrm>
            <a:off x="9906000" y="5267325"/>
            <a:ext cx="4648200" cy="1181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0">
                <a:solidFill>
                  <a:srgbClr val="B2B5D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B2B5D5"/>
                </a:solidFill>
                <a:latin typeface="Helvetica Neue"/>
                <a:ea typeface="Helvetica Neue"/>
                <a:cs typeface="Helvetica Neue"/>
              </a:rPr>
              <a:t>Каждая новая пара городов</a:t>
            </a:r>
          </a:p>
          <a:p>
            <a:pPr algn="l">
              <a:defRPr sz="2175" b="0">
                <a:solidFill>
                  <a:srgbClr val="B2B5D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B2B5D5"/>
                </a:solidFill>
                <a:latin typeface="Helvetica Neue"/>
                <a:ea typeface="Helvetica Neue"/>
                <a:cs typeface="Helvetica Neue"/>
              </a:rPr>
              <a:t>должна давать успешные</a:t>
            </a:r>
          </a:p>
          <a:p>
            <a:pPr algn="l">
              <a:defRPr sz="2175" b="0">
                <a:solidFill>
                  <a:srgbClr val="B2B5D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B2B5D5"/>
                </a:solidFill>
                <a:latin typeface="Helvetica Neue"/>
                <a:ea typeface="Helvetica Neue"/>
                <a:cs typeface="Helvetica Neue"/>
              </a:rPr>
              <a:t>совпадения</a:t>
            </a:r>
          </a:p>
        </p:txBody>
      </p:sp>
    </p:spTree>
    <p:extLst>
      <p:ext uri="{BB962C8B-B14F-4D97-AF65-F5344CB8AC3E}">
        <p14:creationId xmlns:p14="http://schemas.microsoft.com/office/powerpoint/2010/main" val="3404061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6071C"/>
            </a:gs>
            <a:gs pos="58000">
              <a:srgbClr val="090B27"/>
            </a:gs>
            <a:gs pos="100000">
              <a:srgbClr val="14104F"/>
            </a:gs>
          </a:gsLst>
          <a:lin ang="15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21AA0D3C-922F-4C5E-B0D5-450E3CA550AE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23825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350" b="1">
                <a:solidFill>
                  <a:srgbClr val="BE91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BE91D9"/>
                </a:solidFill>
                <a:latin typeface="Helvetica Neue"/>
                <a:ea typeface="Helvetica Neue"/>
                <a:cs typeface="Helvetica Neue"/>
              </a:rPr>
              <a:t>РИСКИ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D7359817-4D8A-4F11-9AF3-1323D7604A00}"/>
              </a:ext>
            </a:extLst>
          </p:cNvPr>
          <p:cNvSpPr>
            <a:spLocks noGrp="1"/>
          </p:cNvSpPr>
          <p:nvPr/>
        </p:nvSpPr>
        <p:spPr>
          <a:xfrm>
            <a:off x="685800" y="904875"/>
            <a:ext cx="13868400" cy="1428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Главные вызовы</a:t>
            </a:r>
          </a:p>
        </p:txBody>
      </p:sp>
      <p:sp>
        <p:nv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DA594FBB-188B-4489-ADDD-E6861A5307CE}"/>
              </a:ext>
            </a:extLst>
          </p:cNvPr>
          <p:cNvSpPr>
            <a:spLocks noGrp="1"/>
          </p:cNvSpPr>
          <p:nvPr/>
        </p:nvSpPr>
        <p:spPr>
          <a:xfrm>
            <a:off x="685800" y="8001000"/>
            <a:ext cx="13868400" cy="0"/>
          </a:xfrm>
          <a:prstGeom prst="line">
            <a:avLst/>
          </a:prstGeom>
          <a:noFill/>
          <a:ln w="9525">
            <a:solidFill>
              <a:srgbClr val="FFFFFF">
                <a:alpha val="12000"/>
              </a:srgbClr>
            </a:solidFill>
          </a:ln>
        </p:spPr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8A52046-D3BB-4B07-86FE-7D412DF81852}"/>
              </a:ext>
            </a:extLst>
          </p:cNvPr>
          <p:cNvSpPr>
            <a:spLocks noGrp="1"/>
          </p:cNvSpPr>
          <p:nvPr/>
        </p:nvSpPr>
        <p:spPr>
          <a:xfrm>
            <a:off x="685800" y="8153400"/>
            <a:ext cx="80962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125" b="0">
                <a:solidFill>
                  <a:srgbClr val="B2B5D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B2B5D5"/>
                </a:solidFill>
                <a:latin typeface="Helvetica Neue"/>
                <a:ea typeface="Helvetica Neue"/>
                <a:cs typeface="Helvetica Neue"/>
              </a:rPr>
              <a:t>HOSPITALITY EXCHANGE / MAX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8E6A9BD5-9230-478F-BCEE-006805FBCE66}"/>
              </a:ext>
            </a:extLst>
          </p:cNvPr>
          <p:cNvSpPr>
            <a:spLocks noGrp="1"/>
          </p:cNvSpPr>
          <p:nvPr/>
        </p:nvSpPr>
        <p:spPr>
          <a:xfrm>
            <a:off x="13887450" y="8115300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500" b="0">
                <a:solidFill>
                  <a:srgbClr val="B2B5D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B2B5D5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71BED8F7-C644-47D4-AF4E-0CCFF36AD17C}"/>
              </a:ext>
            </a:extLst>
          </p:cNvPr>
          <p:cNvSpPr>
            <a:spLocks noGrp="1"/>
          </p:cNvSpPr>
          <p:nvPr/>
        </p:nvSpPr>
        <p:spPr>
          <a:xfrm>
            <a:off x="685800" y="2476500"/>
            <a:ext cx="6762750" cy="2209800"/>
          </a:xfrm>
          <a:prstGeom prst="roundRect">
            <a:avLst>
              <a:gd name="adj" fmla="val 10345"/>
            </a:avLst>
          </a:prstGeom>
          <a:gradFill>
            <a:gsLst>
              <a:gs pos="0">
                <a:srgbClr val="374AF3"/>
              </a:gs>
              <a:gs pos="48000">
                <a:srgbClr val="554DDE"/>
              </a:gs>
              <a:gs pos="100000">
                <a:srgbClr val="62047B"/>
              </a:gs>
            </a:gsLst>
            <a:lin ang="1500000"/>
          </a:gradFill>
          <a:ln w="9525">
            <a:solidFill>
              <a:srgbClr val="8C82F4">
                <a:alpha val="70000"/>
              </a:srgbClr>
            </a:solidFill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8EB4DC28-910E-4499-837F-8243AC090E1F}"/>
              </a:ext>
            </a:extLst>
          </p:cNvPr>
          <p:cNvSpPr>
            <a:spLocks noGrp="1"/>
          </p:cNvSpPr>
          <p:nvPr/>
        </p:nvSpPr>
        <p:spPr>
          <a:xfrm>
            <a:off x="971550" y="2743200"/>
            <a:ext cx="6477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025" b="1">
                <a:solidFill>
                  <a:srgbClr val="BE91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BE91D9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D830746F-DE86-4985-9D47-FAF5CFD0432E}"/>
              </a:ext>
            </a:extLst>
          </p:cNvPr>
          <p:cNvSpPr>
            <a:spLocks noGrp="1"/>
          </p:cNvSpPr>
          <p:nvPr/>
        </p:nvSpPr>
        <p:spPr>
          <a:xfrm>
            <a:off x="1733550" y="2752725"/>
            <a:ext cx="541020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Chicken &amp; Egg problem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A080D712-8687-427A-917A-B097F6ECBDEC}"/>
              </a:ext>
            </a:extLst>
          </p:cNvPr>
          <p:cNvSpPr>
            <a:spLocks noGrp="1"/>
          </p:cNvSpPr>
          <p:nvPr/>
        </p:nvSpPr>
        <p:spPr>
          <a:xfrm>
            <a:off x="1733550" y="3505200"/>
            <a:ext cx="5410200" cy="8667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Нет хозяев → нет гостей</a:t>
            </a:r>
          </a:p>
          <a:p>
            <a:pPr algn="l">
              <a:defRPr sz="21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Нет гостей → нет хозяев</a:t>
            </a: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E7579410-794C-4897-B439-851AD8254FE7}"/>
              </a:ext>
            </a:extLst>
          </p:cNvPr>
          <p:cNvSpPr>
            <a:spLocks noGrp="1"/>
          </p:cNvSpPr>
          <p:nvPr/>
        </p:nvSpPr>
        <p:spPr>
          <a:xfrm>
            <a:off x="7791450" y="2476500"/>
            <a:ext cx="6762750" cy="2209800"/>
          </a:xfrm>
          <a:prstGeom prst="roundRect">
            <a:avLst>
              <a:gd name="adj" fmla="val 10345"/>
            </a:avLst>
          </a:prstGeom>
          <a:gradFill>
            <a:gsLst>
              <a:gs pos="0">
                <a:srgbClr val="25255A">
                  <a:alpha val="80000"/>
                </a:srgbClr>
              </a:gs>
              <a:gs pos="100000">
                <a:srgbClr val="14102F">
                  <a:alpha val="75000"/>
                </a:srgbClr>
              </a:gs>
            </a:gsLst>
            <a:lin ang="7800000"/>
          </a:gradFill>
          <a:ln w="9525">
            <a:solidFill>
              <a:srgbClr val="B7B5F0">
                <a:alpha val="20000"/>
              </a:srgbClr>
            </a:solidFill>
          </a:ln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4CD89D34-93D9-46AC-8787-5F25C3562649}"/>
              </a:ext>
            </a:extLst>
          </p:cNvPr>
          <p:cNvSpPr>
            <a:spLocks noGrp="1"/>
          </p:cNvSpPr>
          <p:nvPr/>
        </p:nvSpPr>
        <p:spPr>
          <a:xfrm>
            <a:off x="8077200" y="2743200"/>
            <a:ext cx="6477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025" b="1">
                <a:solidFill>
                  <a:srgbClr val="BE91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BE91D9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296C1488-E071-4EAF-9DD8-B7A5A57EDBB9}"/>
              </a:ext>
            </a:extLst>
          </p:cNvPr>
          <p:cNvSpPr>
            <a:spLocks noGrp="1"/>
          </p:cNvSpPr>
          <p:nvPr/>
        </p:nvSpPr>
        <p:spPr>
          <a:xfrm>
            <a:off x="8839200" y="2752725"/>
            <a:ext cx="541020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Конкуренция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10B881DC-9570-4CE8-8FBF-B8789BA69FF7}"/>
              </a:ext>
            </a:extLst>
          </p:cNvPr>
          <p:cNvSpPr>
            <a:spLocks noGrp="1"/>
          </p:cNvSpPr>
          <p:nvPr/>
        </p:nvSpPr>
        <p:spPr>
          <a:xfrm>
            <a:off x="8839200" y="3505200"/>
            <a:ext cx="5410200" cy="8667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0">
                <a:solidFill>
                  <a:srgbClr val="B2B5D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B2B5D5"/>
                </a:solidFill>
                <a:latin typeface="Helvetica Neue"/>
                <a:ea typeface="Helvetica Neue"/>
                <a:cs typeface="Helvetica Neue"/>
              </a:rPr>
              <a:t>Локальная российская сеть</a:t>
            </a:r>
          </a:p>
          <a:p>
            <a:pPr algn="l">
              <a:defRPr sz="2175" b="0">
                <a:solidFill>
                  <a:srgbClr val="B2B5D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B2B5D5"/>
                </a:solidFill>
                <a:latin typeface="Helvetica Neue"/>
                <a:ea typeface="Helvetica Neue"/>
                <a:cs typeface="Helvetica Neue"/>
              </a:rPr>
              <a:t>как основа отличия</a:t>
            </a: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2FF310AF-D5E4-43E9-BE70-B98F97445DC4}"/>
              </a:ext>
            </a:extLst>
          </p:cNvPr>
          <p:cNvSpPr>
            <a:spLocks noGrp="1"/>
          </p:cNvSpPr>
          <p:nvPr/>
        </p:nvSpPr>
        <p:spPr>
          <a:xfrm>
            <a:off x="685800" y="4972050"/>
            <a:ext cx="6762750" cy="2209800"/>
          </a:xfrm>
          <a:prstGeom prst="roundRect">
            <a:avLst>
              <a:gd name="adj" fmla="val 10345"/>
            </a:avLst>
          </a:prstGeom>
          <a:gradFill>
            <a:gsLst>
              <a:gs pos="0">
                <a:srgbClr val="25255A">
                  <a:alpha val="80000"/>
                </a:srgbClr>
              </a:gs>
              <a:gs pos="100000">
                <a:srgbClr val="14102F">
                  <a:alpha val="75000"/>
                </a:srgbClr>
              </a:gs>
            </a:gsLst>
            <a:lin ang="7800000"/>
          </a:gradFill>
          <a:ln w="9525">
            <a:solidFill>
              <a:srgbClr val="B7B5F0">
                <a:alpha val="20000"/>
              </a:srgbClr>
            </a:solidFill>
          </a:ln>
        </p:spPr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19AC1142-1910-45AB-9757-8AA87FF049C1}"/>
              </a:ext>
            </a:extLst>
          </p:cNvPr>
          <p:cNvSpPr>
            <a:spLocks noGrp="1"/>
          </p:cNvSpPr>
          <p:nvPr/>
        </p:nvSpPr>
        <p:spPr>
          <a:xfrm>
            <a:off x="971550" y="5238750"/>
            <a:ext cx="6477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025" b="1">
                <a:solidFill>
                  <a:srgbClr val="BE91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BE91D9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0EF2BB9-DB91-4B03-BA73-A8D7B018F577}"/>
              </a:ext>
            </a:extLst>
          </p:cNvPr>
          <p:cNvSpPr>
            <a:spLocks noGrp="1"/>
          </p:cNvSpPr>
          <p:nvPr/>
        </p:nvSpPr>
        <p:spPr>
          <a:xfrm>
            <a:off x="1733550" y="5248275"/>
            <a:ext cx="541020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Доверие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34C01C17-1816-45E1-9F72-A188F1E9E6AA}"/>
              </a:ext>
            </a:extLst>
          </p:cNvPr>
          <p:cNvSpPr>
            <a:spLocks noGrp="1"/>
          </p:cNvSpPr>
          <p:nvPr/>
        </p:nvSpPr>
        <p:spPr>
          <a:xfrm>
            <a:off x="1733550" y="6000750"/>
            <a:ext cx="5410200" cy="8667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0">
                <a:solidFill>
                  <a:srgbClr val="B2B5D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B2B5D5"/>
                </a:solidFill>
                <a:latin typeface="Helvetica Neue"/>
                <a:ea typeface="Helvetica Neue"/>
                <a:cs typeface="Helvetica Neue"/>
              </a:rPr>
              <a:t>Профили, отзывы, репутация</a:t>
            </a:r>
          </a:p>
          <a:p>
            <a:pPr algn="l">
              <a:defRPr sz="2175" b="0">
                <a:solidFill>
                  <a:srgbClr val="B2B5D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B2B5D5"/>
                </a:solidFill>
                <a:latin typeface="Helvetica Neue"/>
                <a:ea typeface="Helvetica Neue"/>
                <a:cs typeface="Helvetica Neue"/>
              </a:rPr>
              <a:t>и подтверждение личности</a:t>
            </a:r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C6274A20-9D05-4FA2-9E1B-DB164C994D2A}"/>
              </a:ext>
            </a:extLst>
          </p:cNvPr>
          <p:cNvSpPr>
            <a:spLocks noGrp="1"/>
          </p:cNvSpPr>
          <p:nvPr/>
        </p:nvSpPr>
        <p:spPr>
          <a:xfrm>
            <a:off x="7791450" y="4972050"/>
            <a:ext cx="6762750" cy="2209800"/>
          </a:xfrm>
          <a:prstGeom prst="roundRect">
            <a:avLst>
              <a:gd name="adj" fmla="val 10345"/>
            </a:avLst>
          </a:prstGeom>
          <a:gradFill>
            <a:gsLst>
              <a:gs pos="0">
                <a:srgbClr val="25255A">
                  <a:alpha val="80000"/>
                </a:srgbClr>
              </a:gs>
              <a:gs pos="100000">
                <a:srgbClr val="14102F">
                  <a:alpha val="75000"/>
                </a:srgbClr>
              </a:gs>
            </a:gsLst>
            <a:lin ang="7800000"/>
          </a:gradFill>
          <a:ln w="9525">
            <a:solidFill>
              <a:srgbClr val="B7B5F0">
                <a:alpha val="20000"/>
              </a:srgbClr>
            </a:solidFill>
          </a:ln>
        </p:spPr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26BFFA1D-074D-4CE5-BF11-49DFEB3FA8FB}"/>
              </a:ext>
            </a:extLst>
          </p:cNvPr>
          <p:cNvSpPr>
            <a:spLocks noGrp="1"/>
          </p:cNvSpPr>
          <p:nvPr/>
        </p:nvSpPr>
        <p:spPr>
          <a:xfrm>
            <a:off x="8077200" y="5238750"/>
            <a:ext cx="6477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025" b="1">
                <a:solidFill>
                  <a:srgbClr val="BE91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BE91D9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AD33174E-929C-4F93-83B8-BE8A298FC853}"/>
              </a:ext>
            </a:extLst>
          </p:cNvPr>
          <p:cNvSpPr>
            <a:spLocks noGrp="1"/>
          </p:cNvSpPr>
          <p:nvPr/>
        </p:nvSpPr>
        <p:spPr>
          <a:xfrm>
            <a:off x="8839200" y="5248275"/>
            <a:ext cx="541020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Качество взаимодействий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12B6707F-1AAC-4CAE-BF5D-356A40FDF1FC}"/>
              </a:ext>
            </a:extLst>
          </p:cNvPr>
          <p:cNvSpPr>
            <a:spLocks noGrp="1"/>
          </p:cNvSpPr>
          <p:nvPr/>
        </p:nvSpPr>
        <p:spPr>
          <a:xfrm>
            <a:off x="8839200" y="6000750"/>
            <a:ext cx="5410200" cy="8667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0">
                <a:solidFill>
                  <a:srgbClr val="B2B5D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B2B5D5"/>
                </a:solidFill>
                <a:latin typeface="Helvetica Neue"/>
                <a:ea typeface="Helvetica Neue"/>
                <a:cs typeface="Helvetica Neue"/>
              </a:rPr>
              <a:t>Модерация</a:t>
            </a:r>
          </a:p>
          <a:p>
            <a:pPr algn="l">
              <a:defRPr sz="2175" b="0">
                <a:solidFill>
                  <a:srgbClr val="B2B5D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B2B5D5"/>
                </a:solidFill>
                <a:latin typeface="Helvetica Neue"/>
                <a:ea typeface="Helvetica Neue"/>
                <a:cs typeface="Helvetica Neue"/>
              </a:rPr>
              <a:t>и обратная связь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7A199794-A702-4D2C-A0B6-1F43CD750C4C}"/>
              </a:ext>
            </a:extLst>
          </p:cNvPr>
          <p:cNvSpPr>
            <a:spLocks noGrp="1"/>
          </p:cNvSpPr>
          <p:nvPr/>
        </p:nvSpPr>
        <p:spPr>
          <a:xfrm>
            <a:off x="685800" y="7400925"/>
            <a:ext cx="138684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425" b="0">
                <a:solidFill>
                  <a:srgbClr val="B2B5D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B2B5D5"/>
                </a:solidFill>
                <a:latin typeface="Helvetica Neue"/>
                <a:ea typeface="Helvetica Neue"/>
                <a:cs typeface="Helvetica Neue"/>
              </a:rPr>
              <a:t>Механизмы доверия и модерации требуют проверки в пилоте.</a:t>
            </a:r>
          </a:p>
        </p:txBody>
      </p:sp>
    </p:spTree>
    <p:extLst>
      <p:ext uri="{BB962C8B-B14F-4D97-AF65-F5344CB8AC3E}">
        <p14:creationId xmlns:p14="http://schemas.microsoft.com/office/powerpoint/2010/main" val="11367205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6071C"/>
            </a:gs>
            <a:gs pos="58000">
              <a:srgbClr val="090B27"/>
            </a:gs>
            <a:gs pos="100000">
              <a:srgbClr val="14104F"/>
            </a:gs>
          </a:gsLst>
          <a:lin ang="15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09D7DC16-5FC9-4F9A-A8EE-CCC193DA7362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23825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350" b="1">
                <a:solidFill>
                  <a:srgbClr val="BE91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BE91D9"/>
                </a:solidFill>
                <a:latin typeface="Helvetica Neue"/>
                <a:ea typeface="Helvetica Neue"/>
                <a:cs typeface="Helvetica Neue"/>
              </a:rPr>
              <a:t>КТО СОЗДАЁТ ПРОДУКТ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617EEFC-3BA5-4E67-B5BE-94FAE1579DFD}"/>
              </a:ext>
            </a:extLst>
          </p:cNvPr>
          <p:cNvSpPr>
            <a:spLocks noGrp="1"/>
          </p:cNvSpPr>
          <p:nvPr/>
        </p:nvSpPr>
        <p:spPr>
          <a:xfrm>
            <a:off x="685800" y="904875"/>
            <a:ext cx="13868400" cy="1428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Команда</a:t>
            </a:r>
          </a:p>
        </p:txBody>
      </p:sp>
      <p:sp>
        <p:nv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5C00488F-F537-4F39-9C29-070A40B506F7}"/>
              </a:ext>
            </a:extLst>
          </p:cNvPr>
          <p:cNvSpPr>
            <a:spLocks noGrp="1"/>
          </p:cNvSpPr>
          <p:nvPr/>
        </p:nvSpPr>
        <p:spPr>
          <a:xfrm>
            <a:off x="685800" y="8001000"/>
            <a:ext cx="13868400" cy="0"/>
          </a:xfrm>
          <a:prstGeom prst="line">
            <a:avLst/>
          </a:prstGeom>
          <a:noFill/>
          <a:ln w="9525">
            <a:solidFill>
              <a:srgbClr val="FFFFFF">
                <a:alpha val="12000"/>
              </a:srgbClr>
            </a:solidFill>
          </a:ln>
        </p:spPr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4B7CF97-EE8B-4307-B811-065BE4719B53}"/>
              </a:ext>
            </a:extLst>
          </p:cNvPr>
          <p:cNvSpPr>
            <a:spLocks noGrp="1"/>
          </p:cNvSpPr>
          <p:nvPr/>
        </p:nvSpPr>
        <p:spPr>
          <a:xfrm>
            <a:off x="685800" y="8153400"/>
            <a:ext cx="80962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125" b="0">
                <a:solidFill>
                  <a:srgbClr val="B2B5D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B2B5D5"/>
                </a:solidFill>
                <a:latin typeface="Helvetica Neue"/>
                <a:ea typeface="Helvetica Neue"/>
                <a:cs typeface="Helvetica Neue"/>
              </a:rPr>
              <a:t>HOSPITALITY EXCHANGE / MAX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188F3399-82F0-4829-8466-D171D37766D4}"/>
              </a:ext>
            </a:extLst>
          </p:cNvPr>
          <p:cNvSpPr>
            <a:spLocks noGrp="1"/>
          </p:cNvSpPr>
          <p:nvPr/>
        </p:nvSpPr>
        <p:spPr>
          <a:xfrm>
            <a:off x="13887450" y="8115300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500" b="0">
                <a:solidFill>
                  <a:srgbClr val="B2B5D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B2B5D5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521E9694-35BF-4998-BDE1-87B809109149}"/>
              </a:ext>
            </a:extLst>
          </p:cNvPr>
          <p:cNvSpPr>
            <a:spLocks noGrp="1"/>
          </p:cNvSpPr>
          <p:nvPr/>
        </p:nvSpPr>
        <p:spPr>
          <a:xfrm>
            <a:off x="685800" y="2333625"/>
            <a:ext cx="4495800" cy="3019425"/>
          </a:xfrm>
          <a:prstGeom prst="roundRect">
            <a:avLst>
              <a:gd name="adj" fmla="val 7571"/>
            </a:avLst>
          </a:prstGeom>
          <a:gradFill>
            <a:gsLst>
              <a:gs pos="0">
                <a:srgbClr val="25255A">
                  <a:alpha val="80000"/>
                </a:srgbClr>
              </a:gs>
              <a:gs pos="100000">
                <a:srgbClr val="14102F">
                  <a:alpha val="75000"/>
                </a:srgbClr>
              </a:gs>
            </a:gsLst>
            <a:lin ang="7800000"/>
          </a:gradFill>
          <a:ln w="9525">
            <a:solidFill>
              <a:srgbClr val="B7B5F0">
                <a:alpha val="20000"/>
              </a:srgbClr>
            </a:solidFill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DF3D40C6-3CE8-4FDA-81EB-9454FF9D875B}"/>
              </a:ext>
            </a:extLst>
          </p:cNvPr>
          <p:cNvSpPr>
            <a:spLocks noGrp="1"/>
          </p:cNvSpPr>
          <p:nvPr/>
        </p:nvSpPr>
        <p:spPr>
          <a:xfrm>
            <a:off x="952500" y="2600325"/>
            <a:ext cx="39624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00" b="1">
                <a:solidFill>
                  <a:srgbClr val="BE91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BE91D9"/>
                </a:solidFill>
                <a:latin typeface="Helvetica Neue"/>
                <a:ea typeface="Helvetica Neue"/>
                <a:cs typeface="Helvetica Neue"/>
              </a:rPr>
              <a:t>Product Manager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9CD761BF-08E4-4775-8341-C2A6FC64B530}"/>
              </a:ext>
            </a:extLst>
          </p:cNvPr>
          <p:cNvSpPr>
            <a:spLocks noGrp="1"/>
          </p:cNvSpPr>
          <p:nvPr/>
        </p:nvSpPr>
        <p:spPr>
          <a:xfrm>
            <a:off x="952500" y="3238500"/>
            <a:ext cx="396240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6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Артем Дружинин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9A9AE14E-E267-4362-9B0E-74AFE029AB7B}"/>
              </a:ext>
            </a:extLst>
          </p:cNvPr>
          <p:cNvSpPr>
            <a:spLocks noGrp="1"/>
          </p:cNvSpPr>
          <p:nvPr/>
        </p:nvSpPr>
        <p:spPr>
          <a:xfrm>
            <a:off x="952500" y="3943350"/>
            <a:ext cx="3962400" cy="1095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950" b="0">
                <a:solidFill>
                  <a:srgbClr val="B2B5D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B2B5D5"/>
                </a:solidFill>
                <a:latin typeface="Helvetica Neue"/>
                <a:ea typeface="Helvetica Neue"/>
                <a:cs typeface="Helvetica Neue"/>
              </a:rPr>
              <a:t>Продуктовая стратегия</a:t>
            </a:r>
          </a:p>
          <a:p>
            <a:pPr algn="l">
              <a:defRPr sz="1950" b="0">
                <a:solidFill>
                  <a:srgbClr val="B2B5D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B2B5D5"/>
                </a:solidFill>
                <a:latin typeface="Helvetica Neue"/>
                <a:ea typeface="Helvetica Neue"/>
                <a:cs typeface="Helvetica Neue"/>
              </a:rPr>
              <a:t>Гипотезы</a:t>
            </a:r>
          </a:p>
          <a:p>
            <a:pPr algn="l">
              <a:defRPr sz="1950" b="0">
                <a:solidFill>
                  <a:srgbClr val="B2B5D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B2B5D5"/>
                </a:solidFill>
                <a:latin typeface="Helvetica Neue"/>
                <a:ea typeface="Helvetica Neue"/>
                <a:cs typeface="Helvetica Neue"/>
              </a:rPr>
              <a:t>Исследование пользователей</a:t>
            </a: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5D9D09DC-10BE-434A-B60A-F643187267AD}"/>
              </a:ext>
            </a:extLst>
          </p:cNvPr>
          <p:cNvSpPr>
            <a:spLocks noGrp="1"/>
          </p:cNvSpPr>
          <p:nvPr/>
        </p:nvSpPr>
        <p:spPr>
          <a:xfrm>
            <a:off x="5372100" y="2333625"/>
            <a:ext cx="4495800" cy="3019425"/>
          </a:xfrm>
          <a:prstGeom prst="roundRect">
            <a:avLst>
              <a:gd name="adj" fmla="val 7571"/>
            </a:avLst>
          </a:prstGeom>
          <a:gradFill>
            <a:gsLst>
              <a:gs pos="0">
                <a:srgbClr val="25255A">
                  <a:alpha val="80000"/>
                </a:srgbClr>
              </a:gs>
              <a:gs pos="100000">
                <a:srgbClr val="14102F">
                  <a:alpha val="75000"/>
                </a:srgbClr>
              </a:gs>
            </a:gsLst>
            <a:lin ang="7800000"/>
          </a:gradFill>
          <a:ln w="9525">
            <a:solidFill>
              <a:srgbClr val="B7B5F0">
                <a:alpha val="20000"/>
              </a:srgbClr>
            </a:solidFill>
          </a:ln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DE5907E0-E74B-41A9-BDA3-F0F54FA34FC6}"/>
              </a:ext>
            </a:extLst>
          </p:cNvPr>
          <p:cNvSpPr>
            <a:spLocks noGrp="1"/>
          </p:cNvSpPr>
          <p:nvPr/>
        </p:nvSpPr>
        <p:spPr>
          <a:xfrm>
            <a:off x="5638800" y="2600325"/>
            <a:ext cx="39624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00" b="1">
                <a:solidFill>
                  <a:srgbClr val="BE91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BE91D9"/>
                </a:solidFill>
                <a:latin typeface="Helvetica Neue"/>
                <a:ea typeface="Helvetica Neue"/>
                <a:cs typeface="Helvetica Neue"/>
              </a:rPr>
              <a:t>Backend Developer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5F44CB8B-617C-4C95-9AC7-FF10AC99720C}"/>
              </a:ext>
            </a:extLst>
          </p:cNvPr>
          <p:cNvSpPr>
            <a:spLocks noGrp="1"/>
          </p:cNvSpPr>
          <p:nvPr/>
        </p:nvSpPr>
        <p:spPr>
          <a:xfrm>
            <a:off x="5638800" y="3238500"/>
            <a:ext cx="396240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6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Герман Стропус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74C3FD3-A097-4DA2-B007-3906EAAB8A7C}"/>
              </a:ext>
            </a:extLst>
          </p:cNvPr>
          <p:cNvSpPr>
            <a:spLocks noGrp="1"/>
          </p:cNvSpPr>
          <p:nvPr/>
        </p:nvSpPr>
        <p:spPr>
          <a:xfrm>
            <a:off x="5638800" y="3943350"/>
            <a:ext cx="3962400" cy="1095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950" b="0">
                <a:solidFill>
                  <a:srgbClr val="B2B5D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B2B5D5"/>
                </a:solidFill>
                <a:latin typeface="Helvetica Neue"/>
                <a:ea typeface="Helvetica Neue"/>
                <a:cs typeface="Helvetica Neue"/>
              </a:rPr>
              <a:t>FastAPI и бизнес-логика</a:t>
            </a:r>
          </a:p>
          <a:p>
            <a:pPr algn="l">
              <a:defRPr sz="1950" b="0">
                <a:solidFill>
                  <a:srgbClr val="B2B5D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B2B5D5"/>
                </a:solidFill>
                <a:latin typeface="Helvetica Neue"/>
                <a:ea typeface="Helvetica Neue"/>
                <a:cs typeface="Helvetica Neue"/>
              </a:rPr>
              <a:t>База данных</a:t>
            </a:r>
          </a:p>
          <a:p>
            <a:pPr algn="l">
              <a:defRPr sz="1950" b="0">
                <a:solidFill>
                  <a:srgbClr val="B2B5D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B2B5D5"/>
                </a:solidFill>
                <a:latin typeface="Helvetica Neue"/>
                <a:ea typeface="Helvetica Neue"/>
                <a:cs typeface="Helvetica Neue"/>
              </a:rPr>
              <a:t>API</a:t>
            </a: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D1342F1F-ECF9-4690-8A7D-A9CE613D591C}"/>
              </a:ext>
            </a:extLst>
          </p:cNvPr>
          <p:cNvSpPr>
            <a:spLocks noGrp="1"/>
          </p:cNvSpPr>
          <p:nvPr/>
        </p:nvSpPr>
        <p:spPr>
          <a:xfrm>
            <a:off x="10058400" y="2333625"/>
            <a:ext cx="4495800" cy="3019425"/>
          </a:xfrm>
          <a:prstGeom prst="roundRect">
            <a:avLst>
              <a:gd name="adj" fmla="val 7571"/>
            </a:avLst>
          </a:prstGeom>
          <a:gradFill>
            <a:gsLst>
              <a:gs pos="0">
                <a:srgbClr val="25255A">
                  <a:alpha val="80000"/>
                </a:srgbClr>
              </a:gs>
              <a:gs pos="100000">
                <a:srgbClr val="14102F">
                  <a:alpha val="75000"/>
                </a:srgbClr>
              </a:gs>
            </a:gsLst>
            <a:lin ang="7800000"/>
          </a:gradFill>
          <a:ln w="9525">
            <a:solidFill>
              <a:srgbClr val="B7B5F0">
                <a:alpha val="20000"/>
              </a:srgbClr>
            </a:solidFill>
          </a:ln>
        </p:spPr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8F5A3F07-0A0A-4E06-BBC5-310B03FBCD78}"/>
              </a:ext>
            </a:extLst>
          </p:cNvPr>
          <p:cNvSpPr>
            <a:spLocks noGrp="1"/>
          </p:cNvSpPr>
          <p:nvPr/>
        </p:nvSpPr>
        <p:spPr>
          <a:xfrm>
            <a:off x="10325100" y="2600325"/>
            <a:ext cx="39624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00" b="1">
                <a:solidFill>
                  <a:srgbClr val="BE91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BE91D9"/>
                </a:solidFill>
                <a:latin typeface="Helvetica Neue"/>
                <a:ea typeface="Helvetica Neue"/>
                <a:cs typeface="Helvetica Neue"/>
              </a:rPr>
              <a:t>Frontend Developer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C95ABC9B-ED89-4837-9D47-6E646B2A8658}"/>
              </a:ext>
            </a:extLst>
          </p:cNvPr>
          <p:cNvSpPr>
            <a:spLocks noGrp="1"/>
          </p:cNvSpPr>
          <p:nvPr/>
        </p:nvSpPr>
        <p:spPr>
          <a:xfrm>
            <a:off x="10325100" y="3238500"/>
            <a:ext cx="396240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6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Казакбаев Ильгиз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5AF213F3-8945-4D04-AB4B-D0C6FE1A2B97}"/>
              </a:ext>
            </a:extLst>
          </p:cNvPr>
          <p:cNvSpPr>
            <a:spLocks noGrp="1"/>
          </p:cNvSpPr>
          <p:nvPr/>
        </p:nvSpPr>
        <p:spPr>
          <a:xfrm>
            <a:off x="10325100" y="3943350"/>
            <a:ext cx="3962400" cy="1095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950" b="0">
                <a:solidFill>
                  <a:srgbClr val="B2B5D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B2B5D5"/>
                </a:solidFill>
                <a:latin typeface="Helvetica Neue"/>
                <a:ea typeface="Helvetica Neue"/>
                <a:cs typeface="Helvetica Neue"/>
              </a:rPr>
              <a:t>React</a:t>
            </a:r>
          </a:p>
          <a:p>
            <a:pPr algn="l">
              <a:defRPr sz="1950" b="0">
                <a:solidFill>
                  <a:srgbClr val="B2B5D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B2B5D5"/>
                </a:solidFill>
                <a:latin typeface="Helvetica Neue"/>
                <a:ea typeface="Helvetica Neue"/>
                <a:cs typeface="Helvetica Neue"/>
              </a:rPr>
              <a:t>Интерфейс</a:t>
            </a:r>
          </a:p>
          <a:p>
            <a:pPr algn="l">
              <a:defRPr sz="1950" b="0">
                <a:solidFill>
                  <a:srgbClr val="B2B5D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B2B5D5"/>
                </a:solidFill>
                <a:latin typeface="Helvetica Neue"/>
                <a:ea typeface="Helvetica Neue"/>
                <a:cs typeface="Helvetica Neue"/>
              </a:rPr>
              <a:t>MAX mini-app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03C76150-683D-446A-86D3-B0F30B4FF891}"/>
              </a:ext>
            </a:extLst>
          </p:cNvPr>
          <p:cNvSpPr>
            <a:spLocks noGrp="1"/>
          </p:cNvSpPr>
          <p:nvPr/>
        </p:nvSpPr>
        <p:spPr>
          <a:xfrm>
            <a:off x="685800" y="5857875"/>
            <a:ext cx="138684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850" b="0">
                <a:solidFill>
                  <a:srgbClr val="B2B5D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rgbClr val="B2B5D5"/>
                </a:solidFill>
                <a:latin typeface="Helvetica Neue"/>
                <a:ea typeface="Helvetica Neue"/>
                <a:cs typeface="Helvetica Neue"/>
              </a:rPr>
              <a:t>Мы создаём не просто сервис размещения.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45A61F35-9E08-4B1B-82E4-2F0AF3DDB238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3868400" cy="1314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Мы создаём локальную сеть людей,</a:t>
            </a:r>
          </a:p>
          <a:p>
            <a: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которые делают путешествия по России</a:t>
            </a:r>
          </a:p>
          <a:p>
            <a: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более открытыми</a:t>
            </a:r>
          </a:p>
        </p:txBody>
      </p:sp>
    </p:spTree>
    <p:extLst>
      <p:ext uri="{BB962C8B-B14F-4D97-AF65-F5344CB8AC3E}">
        <p14:creationId xmlns:p14="http://schemas.microsoft.com/office/powerpoint/2010/main" val="195177632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940</Words>
  <Application>Microsoft Office PowerPoint</Application>
  <DocSecurity>0</DocSecurity>
  <PresentationFormat>Произвольный</PresentationFormat>
  <Paragraphs>239</Paragraphs>
  <Slides>13</Slides>
  <Notes>13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6" baseType="lpstr">
      <vt:lpstr>Calibri</vt:lpstr>
      <vt:lpstr>Helvetica Neue</vt:lpstr>
      <vt:lpstr>ChatGPT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Artem</cp:lastModifiedBy>
  <cp:revision>3</cp:revision>
  <dcterms:created xsi:type="dcterms:W3CDTF">2026-09-29T21:25:00Z</dcterms:created>
  <dcterms:modified xsi:type="dcterms:W3CDTF">2026-09-29T21:41:38Z</dcterms:modified>
</cp:coreProperties>
</file>